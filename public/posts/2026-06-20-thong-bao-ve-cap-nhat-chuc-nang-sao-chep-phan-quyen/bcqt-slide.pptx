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image" Target="../media/image-1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3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-2194560"/>
            <a:ext cx="5669280" cy="5669280"/>
          </a:xfrm>
          <a:prstGeom prst="ellipse">
            <a:avLst/>
          </a:prstGeom>
          <a:solidFill>
            <a:srgbClr val="0F5C6E">
              <a:alpha val="3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931920"/>
            <a:ext cx="3840480" cy="3840480"/>
          </a:xfrm>
          <a:prstGeom prst="ellipse">
            <a:avLst/>
          </a:prstGeom>
          <a:solidFill>
            <a:srgbClr val="11947B">
              <a:alpha val="2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777240"/>
            <a:ext cx="914400" cy="914400"/>
          </a:xfrm>
          <a:prstGeom prst="ellipse">
            <a:avLst/>
          </a:prstGeom>
          <a:solidFill>
            <a:srgbClr val="15788E"/>
          </a:solidFill>
          <a:ln/>
          <a:effectLst>
            <a:outerShdw sx="100000" sy="100000" kx="0" ky="0" algn="bl" rotWithShape="0" blurRad="88900" dist="25400" dir="5400000">
              <a:srgbClr val="0A2D39">
                <a:alpha val="1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696" y="996696"/>
            <a:ext cx="475488" cy="4754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286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8F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THÔNG TƯ 200/2014/TT-BTC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77240" y="260604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BÁO CÁO QUẢN TRỊ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822960" y="361188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i="1" dirty="0">
                <a:solidFill>
                  <a:srgbClr val="CFE3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Hệ thống tài khoản &amp; luồng một giao dịch chạy vào báo cáo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822960" y="4526280"/>
            <a:ext cx="1421892" cy="457200"/>
          </a:xfrm>
          <a:prstGeom prst="roundRect">
            <a:avLst>
              <a:gd name="adj" fmla="val 16000"/>
            </a:avLst>
          </a:prstGeom>
          <a:solidFill>
            <a:srgbClr val="13414F"/>
          </a:solidFill>
          <a:ln w="12700">
            <a:solidFill>
              <a:srgbClr val="15788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4526280"/>
            <a:ext cx="14218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Nghiệp vụ</a:t>
            </a:r>
            <a:endParaRPr lang="en-US" sz="13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4580" y="4645152"/>
            <a:ext cx="219456" cy="21945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683764" y="4526280"/>
            <a:ext cx="1175004" cy="457200"/>
          </a:xfrm>
          <a:prstGeom prst="roundRect">
            <a:avLst>
              <a:gd name="adj" fmla="val 16000"/>
            </a:avLst>
          </a:prstGeom>
          <a:solidFill>
            <a:srgbClr val="13414F"/>
          </a:solidFill>
          <a:ln w="12700">
            <a:solidFill>
              <a:srgbClr val="15788E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2683764" y="4526280"/>
            <a:ext cx="11750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 toán</a:t>
            </a:r>
            <a:endParaRPr lang="en-US" sz="135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8496" y="4645152"/>
            <a:ext cx="219456" cy="219456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4297680" y="4526280"/>
            <a:ext cx="1175004" cy="457200"/>
          </a:xfrm>
          <a:prstGeom prst="roundRect">
            <a:avLst>
              <a:gd name="adj" fmla="val 16000"/>
            </a:avLst>
          </a:prstGeom>
          <a:solidFill>
            <a:srgbClr val="13414F"/>
          </a:solidFill>
          <a:ln w="12700">
            <a:solidFill>
              <a:srgbClr val="15788E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4297680" y="4526280"/>
            <a:ext cx="11750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cáo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822960" y="589788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8F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Dành cho Dev/IT đang xây module BCQT — học kế toán từ con số 0.  Mỗi khái niệm kèm ví dụ và nối về đúng hệ thống bạn đang dựng.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13232" cy="713232"/>
          </a:xfrm>
          <a:prstGeom prst="ellipse">
            <a:avLst/>
          </a:prstGeom>
          <a:solidFill>
            <a:srgbClr val="15788E"/>
          </a:solidFill>
          <a:ln/>
          <a:effectLst>
            <a:outerShdw sx="100000" sy="100000" kx="0" ky="0" algn="bl" rotWithShape="0" blurRad="88900" dist="25400" dir="5400000">
              <a:srgbClr val="0A2D39">
                <a:alpha val="18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3550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81328" y="420624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1578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MỞ ĐẦU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481328" y="676656"/>
            <a:ext cx="10149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52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Vì sao bạn “chỉ thấy những con số”?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517904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EEF5F6"/>
          </a:solidFill>
          <a:ln/>
          <a:effectLst>
            <a:outerShdw sx="100000" sy="100000" kx="0" ky="0" algn="bl" rotWithShape="0" blurRad="114300" dist="38100" dir="5400000">
              <a:srgbClr val="0A2D39">
                <a:alpha val="16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783080"/>
            <a:ext cx="384048" cy="38404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71600" y="1755648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78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Lý do phần mềm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841248" y="2212848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BCQT đang chạy chế độ </a:t>
            </a:r>
            <a:pPr algn="l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(BCQT_USE_API = false). Số trên màn là </a:t>
            </a:r>
            <a:pPr algn="l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/ dữ liệu mẫu</a:t>
            </a:r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chưa nối DB thật.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6199632" y="1517904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E4F2EE"/>
          </a:solidFill>
          <a:ln/>
          <a:effectLst>
            <a:outerShdw sx="100000" sy="100000" kx="0" ky="0" algn="bl" rotWithShape="0" blurRad="114300" dist="38100" dir="5400000">
              <a:srgbClr val="0A2D39">
                <a:alpha val="16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783080"/>
            <a:ext cx="384048" cy="38404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004304" y="1755648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94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Lý do nghiệp vụ — cái slide này lấp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6492240" y="2212848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Kể cả khi nối DB thật, bạn vẫn cần hiểu </a:t>
            </a:r>
            <a:pPr algn="l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những con số đó từ đâu sinh ra</a:t>
            </a:r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Không hiểu chuỗi bên dưới thì con số nào cũng “trên trời rơi xuống”.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548640" y="36118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Mọi con số trên báo cáo đều là mắt xích cuối của một chuỗi: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548640" y="4114800"/>
            <a:ext cx="1874520" cy="1371600"/>
          </a:xfrm>
          <a:prstGeom prst="roundRect">
            <a:avLst>
              <a:gd name="adj" fmla="val 6667"/>
            </a:avLst>
          </a:prstGeom>
          <a:solidFill>
            <a:srgbClr val="EEF5F6"/>
          </a:solidFill>
          <a:ln/>
          <a:effectLst>
            <a:outerShdw sx="100000" sy="100000" kx="0" ky="0" algn="bl" rotWithShape="0" blurRad="114300" dist="38100" dir="5400000">
              <a:srgbClr val="0A2D39">
                <a:alpha val="16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1193292" y="4334256"/>
            <a:ext cx="585216" cy="585216"/>
          </a:xfrm>
          <a:prstGeom prst="ellipse">
            <a:avLst/>
          </a:prstGeom>
          <a:solidFill>
            <a:srgbClr val="15788E"/>
          </a:solidFill>
          <a:ln/>
        </p:spPr>
      </p:sp>
      <p:sp>
        <p:nvSpPr>
          <p:cNvPr id="17" name="Text 12"/>
          <p:cNvSpPr/>
          <p:nvPr/>
        </p:nvSpPr>
        <p:spPr>
          <a:xfrm>
            <a:off x="1193292" y="4334256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18" name="Text 13"/>
          <p:cNvSpPr/>
          <p:nvPr/>
        </p:nvSpPr>
        <p:spPr>
          <a:xfrm>
            <a:off x="548640" y="4992624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52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Giao dịch</a:t>
            </a:r>
            <a:endParaRPr lang="en-US" sz="155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0028" y="4690872"/>
            <a:ext cx="219456" cy="219456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2816352" y="4114800"/>
            <a:ext cx="1874520" cy="1371600"/>
          </a:xfrm>
          <a:prstGeom prst="roundRect">
            <a:avLst>
              <a:gd name="adj" fmla="val 6667"/>
            </a:avLst>
          </a:prstGeom>
          <a:solidFill>
            <a:srgbClr val="EEF5F6"/>
          </a:solidFill>
          <a:ln/>
          <a:effectLst>
            <a:outerShdw sx="100000" sy="100000" kx="0" ky="0" algn="bl" rotWithShape="0" blurRad="114300" dist="38100" dir="5400000">
              <a:srgbClr val="0A2D39">
                <a:alpha val="16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3461004" y="4334256"/>
            <a:ext cx="585216" cy="585216"/>
          </a:xfrm>
          <a:prstGeom prst="ellipse">
            <a:avLst/>
          </a:prstGeom>
          <a:solidFill>
            <a:srgbClr val="15788E"/>
          </a:solidFill>
          <a:ln/>
        </p:spPr>
      </p:sp>
      <p:sp>
        <p:nvSpPr>
          <p:cNvPr id="22" name="Text 16"/>
          <p:cNvSpPr/>
          <p:nvPr/>
        </p:nvSpPr>
        <p:spPr>
          <a:xfrm>
            <a:off x="3461004" y="4334256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23" name="Text 17"/>
          <p:cNvSpPr/>
          <p:nvPr/>
        </p:nvSpPr>
        <p:spPr>
          <a:xfrm>
            <a:off x="2816352" y="4992624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52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Bút toán</a:t>
            </a:r>
            <a:endParaRPr lang="en-US" sz="1550" dirty="0"/>
          </a:p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7740" y="4690872"/>
            <a:ext cx="219456" cy="219456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5084064" y="4114800"/>
            <a:ext cx="1874520" cy="1371600"/>
          </a:xfrm>
          <a:prstGeom prst="roundRect">
            <a:avLst>
              <a:gd name="adj" fmla="val 6667"/>
            </a:avLst>
          </a:prstGeom>
          <a:solidFill>
            <a:srgbClr val="EEF5F6"/>
          </a:solidFill>
          <a:ln/>
          <a:effectLst>
            <a:outerShdw sx="100000" sy="100000" kx="0" ky="0" algn="bl" rotWithShape="0" blurRad="114300" dist="38100" dir="5400000">
              <a:srgbClr val="0A2D39">
                <a:alpha val="16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5728716" y="4334256"/>
            <a:ext cx="585216" cy="585216"/>
          </a:xfrm>
          <a:prstGeom prst="ellipse">
            <a:avLst/>
          </a:prstGeom>
          <a:solidFill>
            <a:srgbClr val="15788E"/>
          </a:solidFill>
          <a:ln/>
        </p:spPr>
      </p:sp>
      <p:sp>
        <p:nvSpPr>
          <p:cNvPr id="27" name="Text 20"/>
          <p:cNvSpPr/>
          <p:nvPr/>
        </p:nvSpPr>
        <p:spPr>
          <a:xfrm>
            <a:off x="5728716" y="4334256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8" name="Text 21"/>
          <p:cNvSpPr/>
          <p:nvPr/>
        </p:nvSpPr>
        <p:spPr>
          <a:xfrm>
            <a:off x="5084064" y="4992624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52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Sổ cái</a:t>
            </a:r>
            <a:endParaRPr lang="en-US" sz="1550" dirty="0"/>
          </a:p>
        </p:txBody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5452" y="4690872"/>
            <a:ext cx="219456" cy="219456"/>
          </a:xfrm>
          <a:prstGeom prst="rect">
            <a:avLst/>
          </a:prstGeom>
        </p:spPr>
      </p:pic>
      <p:sp>
        <p:nvSpPr>
          <p:cNvPr id="30" name="Shape 22"/>
          <p:cNvSpPr/>
          <p:nvPr/>
        </p:nvSpPr>
        <p:spPr>
          <a:xfrm>
            <a:off x="7351776" y="4114800"/>
            <a:ext cx="1874520" cy="1371600"/>
          </a:xfrm>
          <a:prstGeom prst="roundRect">
            <a:avLst>
              <a:gd name="adj" fmla="val 6667"/>
            </a:avLst>
          </a:prstGeom>
          <a:solidFill>
            <a:srgbClr val="EEF5F6"/>
          </a:solidFill>
          <a:ln/>
          <a:effectLst>
            <a:outerShdw sx="100000" sy="100000" kx="0" ky="0" algn="bl" rotWithShape="0" blurRad="114300" dist="38100" dir="5400000">
              <a:srgbClr val="0A2D39">
                <a:alpha val="16000"/>
              </a:srgbClr>
            </a:outerShdw>
          </a:effectLst>
        </p:spPr>
      </p:sp>
      <p:sp>
        <p:nvSpPr>
          <p:cNvPr id="31" name="Shape 23"/>
          <p:cNvSpPr/>
          <p:nvPr/>
        </p:nvSpPr>
        <p:spPr>
          <a:xfrm>
            <a:off x="7996428" y="4334256"/>
            <a:ext cx="585216" cy="585216"/>
          </a:xfrm>
          <a:prstGeom prst="ellipse">
            <a:avLst/>
          </a:prstGeom>
          <a:solidFill>
            <a:srgbClr val="15788E"/>
          </a:solidFill>
          <a:ln/>
        </p:spPr>
      </p:sp>
      <p:sp>
        <p:nvSpPr>
          <p:cNvPr id="32" name="Text 24"/>
          <p:cNvSpPr/>
          <p:nvPr/>
        </p:nvSpPr>
        <p:spPr>
          <a:xfrm>
            <a:off x="7996428" y="4334256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33" name="Text 25"/>
          <p:cNvSpPr/>
          <p:nvPr/>
        </p:nvSpPr>
        <p:spPr>
          <a:xfrm>
            <a:off x="7351776" y="4992624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52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Số dư</a:t>
            </a:r>
            <a:endParaRPr lang="en-US" sz="1550" dirty="0"/>
          </a:p>
        </p:txBody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13164" y="4690872"/>
            <a:ext cx="219456" cy="219456"/>
          </a:xfrm>
          <a:prstGeom prst="rect">
            <a:avLst/>
          </a:prstGeom>
        </p:spPr>
      </p:pic>
      <p:sp>
        <p:nvSpPr>
          <p:cNvPr id="35" name="Shape 26"/>
          <p:cNvSpPr/>
          <p:nvPr/>
        </p:nvSpPr>
        <p:spPr>
          <a:xfrm>
            <a:off x="9619488" y="4114800"/>
            <a:ext cx="1874520" cy="1371600"/>
          </a:xfrm>
          <a:prstGeom prst="roundRect">
            <a:avLst>
              <a:gd name="adj" fmla="val 6667"/>
            </a:avLst>
          </a:prstGeom>
          <a:solidFill>
            <a:srgbClr val="E4F2EE"/>
          </a:solidFill>
          <a:ln/>
          <a:effectLst>
            <a:outerShdw sx="100000" sy="100000" kx="0" ky="0" algn="bl" rotWithShape="0" blurRad="114300" dist="38100" dir="5400000">
              <a:srgbClr val="0A2D39">
                <a:alpha val="16000"/>
              </a:srgbClr>
            </a:outerShdw>
          </a:effectLst>
        </p:spPr>
      </p:sp>
      <p:sp>
        <p:nvSpPr>
          <p:cNvPr id="36" name="Shape 27"/>
          <p:cNvSpPr/>
          <p:nvPr/>
        </p:nvSpPr>
        <p:spPr>
          <a:xfrm>
            <a:off x="10264140" y="4334256"/>
            <a:ext cx="585216" cy="585216"/>
          </a:xfrm>
          <a:prstGeom prst="ellipse">
            <a:avLst/>
          </a:prstGeom>
          <a:solidFill>
            <a:srgbClr val="11947B"/>
          </a:solidFill>
          <a:ln/>
        </p:spPr>
      </p:sp>
      <p:sp>
        <p:nvSpPr>
          <p:cNvPr id="37" name="Text 28"/>
          <p:cNvSpPr/>
          <p:nvPr/>
        </p:nvSpPr>
        <p:spPr>
          <a:xfrm>
            <a:off x="10264140" y="4334256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38" name="Text 29"/>
          <p:cNvSpPr/>
          <p:nvPr/>
        </p:nvSpPr>
        <p:spPr>
          <a:xfrm>
            <a:off x="9619488" y="4992624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194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Báo cáo</a:t>
            </a:r>
            <a:endParaRPr lang="en-US" sz="1550" dirty="0"/>
          </a:p>
        </p:txBody>
      </p:sp>
      <p:sp>
        <p:nvSpPr>
          <p:cNvPr id="39" name="Text 30"/>
          <p:cNvSpPr/>
          <p:nvPr/>
        </p:nvSpPr>
        <p:spPr>
          <a:xfrm>
            <a:off x="548640" y="56692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E7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này dạy đúng cái chuỗi đó — từ trái sang phải.</a:t>
            </a:r>
            <a:endParaRPr lang="en-US" sz="1200" dirty="0"/>
          </a:p>
        </p:txBody>
      </p:sp>
      <p:sp>
        <p:nvSpPr>
          <p:cNvPr id="40" name="Text 31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7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cáo quản trị · Toàn tập</a:t>
            </a:r>
            <a:endParaRPr lang="en-US" sz="900" dirty="0"/>
          </a:p>
        </p:txBody>
      </p:sp>
      <p:sp>
        <p:nvSpPr>
          <p:cNvPr id="41" name="Text 32"/>
          <p:cNvSpPr/>
          <p:nvPr/>
        </p:nvSpPr>
        <p:spPr>
          <a:xfrm>
            <a:off x="10424160" y="6455664"/>
            <a:ext cx="1216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13232" cy="713232"/>
          </a:xfrm>
          <a:prstGeom prst="ellipse">
            <a:avLst/>
          </a:prstGeom>
          <a:solidFill>
            <a:srgbClr val="15788E"/>
          </a:solidFill>
          <a:ln/>
          <a:effectLst>
            <a:outerShdw sx="100000" sy="100000" kx="0" ky="0" algn="bl" rotWithShape="0" blurRad="88900" dist="25400" dir="5400000">
              <a:srgbClr val="0A2D39">
                <a:alpha val="18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3550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81328" y="420624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1578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1 · BỨC TRANH LỚN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481328" y="676656"/>
            <a:ext cx="10149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52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 thế giới: tách rõ để hết bối rối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27632"/>
            <a:ext cx="3511296" cy="2788920"/>
          </a:xfrm>
          <a:prstGeom prst="roundRect">
            <a:avLst>
              <a:gd name="adj" fmla="val 3279"/>
            </a:avLst>
          </a:prstGeom>
          <a:solidFill>
            <a:srgbClr val="EEF5F6"/>
          </a:solidFill>
          <a:ln/>
          <a:effectLst>
            <a:outerShdw sx="100000" sy="100000" kx="0" ky="0" algn="bl" rotWithShape="0" blurRad="114300" dist="38100" dir="5400000">
              <a:srgbClr val="0A2D39">
                <a:alpha val="16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77824" y="1956816"/>
            <a:ext cx="713232" cy="713232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A2D39">
                <a:alpha val="14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2157984"/>
            <a:ext cx="310896" cy="3108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737360" y="2011680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578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Tầng 1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1737360" y="2231136"/>
            <a:ext cx="21396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52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Nghiệp vụ</a:t>
            </a:r>
            <a:endParaRPr lang="en-US" sz="2100" dirty="0"/>
          </a:p>
        </p:txBody>
      </p:sp>
      <p:sp>
        <p:nvSpPr>
          <p:cNvPr id="11" name="Text 7"/>
          <p:cNvSpPr/>
          <p:nvPr/>
        </p:nvSpPr>
        <p:spPr>
          <a:xfrm>
            <a:off x="877824" y="2926080"/>
            <a:ext cx="28529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Việc thật xảy ra ngoài đời.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877824" y="3712464"/>
            <a:ext cx="2852928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/>
        </p:spPr>
      </p:sp>
      <p:sp>
        <p:nvSpPr>
          <p:cNvPr id="13" name="Text 9"/>
          <p:cNvSpPr/>
          <p:nvPr/>
        </p:nvSpPr>
        <p:spPr>
          <a:xfrm>
            <a:off x="1005840" y="3712464"/>
            <a:ext cx="2596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578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Bán 1 lô hàng cho khách A — khách chưa trả tiền.</a:t>
            </a:r>
            <a:endParaRPr lang="en-US" sz="115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796" y="2903220"/>
            <a:ext cx="237744" cy="237744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4343400" y="1627632"/>
            <a:ext cx="3511296" cy="2788920"/>
          </a:xfrm>
          <a:prstGeom prst="roundRect">
            <a:avLst>
              <a:gd name="adj" fmla="val 3279"/>
            </a:avLst>
          </a:prstGeom>
          <a:solidFill>
            <a:srgbClr val="EEF5F6"/>
          </a:solidFill>
          <a:ln/>
          <a:effectLst>
            <a:outerShdw sx="100000" sy="100000" kx="0" ky="0" algn="bl" rotWithShape="0" blurRad="114300" dist="38100" dir="5400000">
              <a:srgbClr val="0A2D39">
                <a:alpha val="16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4672584" y="1956816"/>
            <a:ext cx="713232" cy="713232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A2D39">
                <a:alpha val="14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3752" y="2157984"/>
            <a:ext cx="310896" cy="31089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532120" y="2011680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19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Tầng 2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5532120" y="2231136"/>
            <a:ext cx="21396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52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Kế toán</a:t>
            </a:r>
            <a:endParaRPr lang="en-US" sz="2100" dirty="0"/>
          </a:p>
        </p:txBody>
      </p:sp>
      <p:sp>
        <p:nvSpPr>
          <p:cNvPr id="20" name="Text 14"/>
          <p:cNvSpPr/>
          <p:nvPr/>
        </p:nvSpPr>
        <p:spPr>
          <a:xfrm>
            <a:off x="4672584" y="2926080"/>
            <a:ext cx="28529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 lại bằng “ngôn ngữ tài khoản” (định khoản Nợ/Có).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4672584" y="3712464"/>
            <a:ext cx="2852928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/>
        </p:spPr>
      </p:sp>
      <p:sp>
        <p:nvSpPr>
          <p:cNvPr id="22" name="Text 16"/>
          <p:cNvSpPr/>
          <p:nvPr/>
        </p:nvSpPr>
        <p:spPr>
          <a:xfrm>
            <a:off x="4800600" y="3712464"/>
            <a:ext cx="2596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19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Nợ 131 / Có 511 / Có 3331 …</a:t>
            </a:r>
            <a:endParaRPr lang="en-US" sz="115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7556" y="2903220"/>
            <a:ext cx="237744" cy="237744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8138160" y="1627632"/>
            <a:ext cx="3511296" cy="2788920"/>
          </a:xfrm>
          <a:prstGeom prst="roundRect">
            <a:avLst>
              <a:gd name="adj" fmla="val 3279"/>
            </a:avLst>
          </a:prstGeom>
          <a:solidFill>
            <a:srgbClr val="EEF5F6"/>
          </a:solidFill>
          <a:ln/>
          <a:effectLst>
            <a:outerShdw sx="100000" sy="100000" kx="0" ky="0" algn="bl" rotWithShape="0" blurRad="114300" dist="38100" dir="5400000">
              <a:srgbClr val="0A2D39">
                <a:alpha val="16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8467344" y="1956816"/>
            <a:ext cx="713232" cy="713232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A2D39">
                <a:alpha val="14000"/>
              </a:srgbClr>
            </a:outerShdw>
          </a:effectLst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8512" y="2157984"/>
            <a:ext cx="310896" cy="310896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9326880" y="2011680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7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Tầng 3</a:t>
            </a:r>
            <a:endParaRPr lang="en-US" sz="1100" dirty="0"/>
          </a:p>
        </p:txBody>
      </p:sp>
      <p:sp>
        <p:nvSpPr>
          <p:cNvPr id="28" name="Text 20"/>
          <p:cNvSpPr/>
          <p:nvPr/>
        </p:nvSpPr>
        <p:spPr>
          <a:xfrm>
            <a:off x="9326880" y="2231136"/>
            <a:ext cx="21396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52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Báo cáo</a:t>
            </a:r>
            <a:endParaRPr lang="en-US" sz="2100" dirty="0"/>
          </a:p>
        </p:txBody>
      </p:sp>
      <p:sp>
        <p:nvSpPr>
          <p:cNvPr id="29" name="Text 21"/>
          <p:cNvSpPr/>
          <p:nvPr/>
        </p:nvSpPr>
        <p:spPr>
          <a:xfrm>
            <a:off x="8467344" y="2926080"/>
            <a:ext cx="28529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hợp các bút toán để ra bức tranh.</a:t>
            </a:r>
            <a:endParaRPr lang="en-US" sz="1300" dirty="0"/>
          </a:p>
        </p:txBody>
      </p:sp>
      <p:sp>
        <p:nvSpPr>
          <p:cNvPr id="30" name="Shape 22"/>
          <p:cNvSpPr/>
          <p:nvPr/>
        </p:nvSpPr>
        <p:spPr>
          <a:xfrm>
            <a:off x="8467344" y="3712464"/>
            <a:ext cx="2852928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/>
        </p:spPr>
      </p:sp>
      <p:sp>
        <p:nvSpPr>
          <p:cNvPr id="31" name="Text 23"/>
          <p:cNvSpPr/>
          <p:nvPr/>
        </p:nvSpPr>
        <p:spPr>
          <a:xfrm>
            <a:off x="8595360" y="3712464"/>
            <a:ext cx="2596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97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Doanh thu tháng này = ?  Lợi nhuận = ?</a:t>
            </a:r>
            <a:endParaRPr lang="en-US" sz="1150" dirty="0"/>
          </a:p>
        </p:txBody>
      </p:sp>
      <p:sp>
        <p:nvSpPr>
          <p:cNvPr id="32" name="Shape 24"/>
          <p:cNvSpPr/>
          <p:nvPr/>
        </p:nvSpPr>
        <p:spPr>
          <a:xfrm>
            <a:off x="548640" y="4736592"/>
            <a:ext cx="11091672" cy="1417320"/>
          </a:xfrm>
          <a:prstGeom prst="roundRect">
            <a:avLst>
              <a:gd name="adj" fmla="val 6452"/>
            </a:avLst>
          </a:prstGeom>
          <a:solidFill>
            <a:srgbClr val="0E3A4A"/>
          </a:solidFill>
          <a:ln/>
          <a:effectLst>
            <a:outerShdw sx="100000" sy="100000" kx="0" ky="0" algn="bl" rotWithShape="0" blurRad="114300" dist="38100" dir="5400000">
              <a:srgbClr val="0A2D39">
                <a:alpha val="16000"/>
              </a:srgbClr>
            </a:outerShdw>
          </a:effectLst>
        </p:spPr>
      </p:sp>
      <p:sp>
        <p:nvSpPr>
          <p:cNvPr id="33" name="Text 25"/>
          <p:cNvSpPr/>
          <p:nvPr/>
        </p:nvSpPr>
        <p:spPr>
          <a:xfrm>
            <a:off x="868680" y="4736592"/>
            <a:ext cx="10424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BCQT nằm ở Tầng 3.  </a:t>
            </a:r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Nó </a:t>
            </a:r>
            <a:pPr algn="l"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tự sinh số</a:t>
            </a:r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nó </a:t>
            </a:r>
            <a:pPr algn="l"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đọc lại</a:t>
            </a:r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kết quả của Tầng 2. Muốn báo cáo đúng thì kế toán phải đúng, mà kế toán lại bắt nguồn từ nghiệp vụ.</a:t>
            </a:r>
            <a:endParaRPr lang="en-US" sz="1500" dirty="0"/>
          </a:p>
        </p:txBody>
      </p:sp>
      <p:sp>
        <p:nvSpPr>
          <p:cNvPr id="34" name="Text 26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7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cáo quản trị · Toàn tập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0424160" y="6455664"/>
            <a:ext cx="1216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13232" cy="713232"/>
          </a:xfrm>
          <a:prstGeom prst="ellipse">
            <a:avLst/>
          </a:prstGeom>
          <a:solidFill>
            <a:srgbClr val="15788E"/>
          </a:solidFill>
          <a:ln/>
          <a:effectLst>
            <a:outerShdw sx="100000" sy="100000" kx="0" ky="0" algn="bl" rotWithShape="0" blurRad="88900" dist="25400" dir="5400000">
              <a:srgbClr val="0A2D39">
                <a:alpha val="18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3550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81328" y="420624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1578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2 · HỆ THỐNG TÀI KHOẢN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481328" y="676656"/>
            <a:ext cx="10149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52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Hệ thống tài khoản = bộ “ngăn kéo” đánh số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157276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Một bộ ngăn kéo được </a:t>
            </a:r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đánh số sẵn</a:t>
            </a:r>
            <a:pPr algn="l"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để phân loại mọi tiền nong / tài sản / nợ nần. Mỗi ngăn có một </a:t>
            </a:r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 số</a:t>
            </a:r>
            <a:pPr algn="l"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và một </a:t>
            </a:r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tên</a:t>
            </a:r>
            <a:pPr algn="l"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Có việc xảy ra → kế toán “bỏ vào ngăn này, lấy ra từ ngăn kia”.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548640" y="2468880"/>
            <a:ext cx="3511296" cy="1481328"/>
          </a:xfrm>
          <a:prstGeom prst="roundRect">
            <a:avLst>
              <a:gd name="adj" fmla="val 6173"/>
            </a:avLst>
          </a:prstGeom>
          <a:solidFill>
            <a:srgbClr val="EEF5F6"/>
          </a:solidFill>
          <a:ln/>
          <a:effectLst>
            <a:outerShdw sx="100000" sy="100000" kx="0" ky="0" algn="bl" rotWithShape="0" blurRad="114300" dist="38100" dir="5400000">
              <a:srgbClr val="0A2D39">
                <a:alpha val="1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41248" y="2779776"/>
            <a:ext cx="1417320" cy="859536"/>
          </a:xfrm>
          <a:prstGeom prst="roundRect">
            <a:avLst>
              <a:gd name="adj" fmla="val 7447"/>
            </a:avLst>
          </a:prstGeom>
          <a:solidFill>
            <a:srgbClr val="15788E"/>
          </a:solidFill>
          <a:ln/>
        </p:spPr>
      </p:sp>
      <p:sp>
        <p:nvSpPr>
          <p:cNvPr id="9" name="Shape 6"/>
          <p:cNvSpPr/>
          <p:nvPr/>
        </p:nvSpPr>
        <p:spPr>
          <a:xfrm>
            <a:off x="1261872" y="2944368"/>
            <a:ext cx="576072" cy="109728"/>
          </a:xfrm>
          <a:prstGeom prst="roundRect">
            <a:avLst>
              <a:gd name="adj" fmla="val 50000"/>
            </a:avLst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841248" y="2779776"/>
            <a:ext cx="14173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111</a:t>
            </a:r>
            <a:endParaRPr lang="en-US" sz="2700" dirty="0"/>
          </a:p>
        </p:txBody>
      </p:sp>
      <p:sp>
        <p:nvSpPr>
          <p:cNvPr id="11" name="Text 8"/>
          <p:cNvSpPr/>
          <p:nvPr/>
        </p:nvSpPr>
        <p:spPr>
          <a:xfrm>
            <a:off x="2423160" y="2779776"/>
            <a:ext cx="145389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Tiền mặt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4343400" y="2468880"/>
            <a:ext cx="3511296" cy="1481328"/>
          </a:xfrm>
          <a:prstGeom prst="roundRect">
            <a:avLst>
              <a:gd name="adj" fmla="val 6173"/>
            </a:avLst>
          </a:prstGeom>
          <a:solidFill>
            <a:srgbClr val="EEF5F6"/>
          </a:solidFill>
          <a:ln/>
          <a:effectLst>
            <a:outerShdw sx="100000" sy="100000" kx="0" ky="0" algn="bl" rotWithShape="0" blurRad="114300" dist="38100" dir="5400000">
              <a:srgbClr val="0A2D39">
                <a:alpha val="1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636008" y="2779776"/>
            <a:ext cx="1417320" cy="859536"/>
          </a:xfrm>
          <a:prstGeom prst="roundRect">
            <a:avLst>
              <a:gd name="adj" fmla="val 7447"/>
            </a:avLst>
          </a:prstGeom>
          <a:solidFill>
            <a:srgbClr val="15788E"/>
          </a:solidFill>
          <a:ln/>
        </p:spPr>
      </p:sp>
      <p:sp>
        <p:nvSpPr>
          <p:cNvPr id="14" name="Shape 11"/>
          <p:cNvSpPr/>
          <p:nvPr/>
        </p:nvSpPr>
        <p:spPr>
          <a:xfrm>
            <a:off x="5056632" y="2944368"/>
            <a:ext cx="576072" cy="109728"/>
          </a:xfrm>
          <a:prstGeom prst="roundRect">
            <a:avLst>
              <a:gd name="adj" fmla="val 50000"/>
            </a:avLst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4636008" y="2779776"/>
            <a:ext cx="14173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112</a:t>
            </a:r>
            <a:endParaRPr lang="en-US" sz="2700" dirty="0"/>
          </a:p>
        </p:txBody>
      </p:sp>
      <p:sp>
        <p:nvSpPr>
          <p:cNvPr id="16" name="Text 13"/>
          <p:cNvSpPr/>
          <p:nvPr/>
        </p:nvSpPr>
        <p:spPr>
          <a:xfrm>
            <a:off x="6217920" y="2779776"/>
            <a:ext cx="145389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Tiền gửi ngân hàng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8138160" y="2468880"/>
            <a:ext cx="3511296" cy="1481328"/>
          </a:xfrm>
          <a:prstGeom prst="roundRect">
            <a:avLst>
              <a:gd name="adj" fmla="val 6173"/>
            </a:avLst>
          </a:prstGeom>
          <a:solidFill>
            <a:srgbClr val="EEF5F6"/>
          </a:solidFill>
          <a:ln/>
          <a:effectLst>
            <a:outerShdw sx="100000" sy="100000" kx="0" ky="0" algn="bl" rotWithShape="0" blurRad="114300" dist="38100" dir="5400000">
              <a:srgbClr val="0A2D39">
                <a:alpha val="16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430768" y="2779776"/>
            <a:ext cx="1417320" cy="859536"/>
          </a:xfrm>
          <a:prstGeom prst="roundRect">
            <a:avLst>
              <a:gd name="adj" fmla="val 7447"/>
            </a:avLst>
          </a:prstGeom>
          <a:solidFill>
            <a:srgbClr val="11947B"/>
          </a:solidFill>
          <a:ln/>
        </p:spPr>
      </p:sp>
      <p:sp>
        <p:nvSpPr>
          <p:cNvPr id="19" name="Shape 16"/>
          <p:cNvSpPr/>
          <p:nvPr/>
        </p:nvSpPr>
        <p:spPr>
          <a:xfrm>
            <a:off x="8851392" y="2944368"/>
            <a:ext cx="576072" cy="109728"/>
          </a:xfrm>
          <a:prstGeom prst="roundRect">
            <a:avLst>
              <a:gd name="adj" fmla="val 50000"/>
            </a:avLst>
          </a:prstGeom>
          <a:solidFill>
            <a:srgbClr val="FFFFFF">
              <a:alpha val="65000"/>
            </a:srgbClr>
          </a:solidFill>
          <a:ln/>
        </p:spPr>
      </p:sp>
      <p:sp>
        <p:nvSpPr>
          <p:cNvPr id="20" name="Text 17"/>
          <p:cNvSpPr/>
          <p:nvPr/>
        </p:nvSpPr>
        <p:spPr>
          <a:xfrm>
            <a:off x="8430768" y="2779776"/>
            <a:ext cx="14173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156</a:t>
            </a:r>
            <a:endParaRPr lang="en-US" sz="2700" dirty="0"/>
          </a:p>
        </p:txBody>
      </p:sp>
      <p:sp>
        <p:nvSpPr>
          <p:cNvPr id="21" name="Text 18"/>
          <p:cNvSpPr/>
          <p:nvPr/>
        </p:nvSpPr>
        <p:spPr>
          <a:xfrm>
            <a:off x="10012680" y="2779776"/>
            <a:ext cx="145389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Hàng hóa trong kho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548640" y="4242816"/>
            <a:ext cx="3511296" cy="1481328"/>
          </a:xfrm>
          <a:prstGeom prst="roundRect">
            <a:avLst>
              <a:gd name="adj" fmla="val 6173"/>
            </a:avLst>
          </a:prstGeom>
          <a:solidFill>
            <a:srgbClr val="EEF5F6"/>
          </a:solidFill>
          <a:ln/>
          <a:effectLst>
            <a:outerShdw sx="100000" sy="100000" kx="0" ky="0" algn="bl" rotWithShape="0" blurRad="114300" dist="38100" dir="5400000">
              <a:srgbClr val="0A2D39">
                <a:alpha val="16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841248" y="4553712"/>
            <a:ext cx="1417320" cy="859536"/>
          </a:xfrm>
          <a:prstGeom prst="roundRect">
            <a:avLst>
              <a:gd name="adj" fmla="val 7447"/>
            </a:avLst>
          </a:prstGeom>
          <a:solidFill>
            <a:srgbClr val="C9791A"/>
          </a:solidFill>
          <a:ln/>
        </p:spPr>
      </p:sp>
      <p:sp>
        <p:nvSpPr>
          <p:cNvPr id="24" name="Shape 21"/>
          <p:cNvSpPr/>
          <p:nvPr/>
        </p:nvSpPr>
        <p:spPr>
          <a:xfrm>
            <a:off x="1261872" y="4718304"/>
            <a:ext cx="576072" cy="109728"/>
          </a:xfrm>
          <a:prstGeom prst="roundRect">
            <a:avLst>
              <a:gd name="adj" fmla="val 50000"/>
            </a:avLst>
          </a:prstGeom>
          <a:solidFill>
            <a:srgbClr val="FFFFFF">
              <a:alpha val="65000"/>
            </a:srgbClr>
          </a:solidFill>
          <a:ln/>
        </p:spPr>
      </p:sp>
      <p:sp>
        <p:nvSpPr>
          <p:cNvPr id="25" name="Text 22"/>
          <p:cNvSpPr/>
          <p:nvPr/>
        </p:nvSpPr>
        <p:spPr>
          <a:xfrm>
            <a:off x="841248" y="4553712"/>
            <a:ext cx="14173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131</a:t>
            </a:r>
            <a:endParaRPr lang="en-US" sz="2700" dirty="0"/>
          </a:p>
        </p:txBody>
      </p:sp>
      <p:sp>
        <p:nvSpPr>
          <p:cNvPr id="26" name="Text 23"/>
          <p:cNvSpPr/>
          <p:nvPr/>
        </p:nvSpPr>
        <p:spPr>
          <a:xfrm>
            <a:off x="2423160" y="4553712"/>
            <a:ext cx="145389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Khách hàng đang nợ mình</a:t>
            </a:r>
            <a:endParaRPr lang="en-US" sz="1350" dirty="0"/>
          </a:p>
        </p:txBody>
      </p:sp>
      <p:sp>
        <p:nvSpPr>
          <p:cNvPr id="27" name="Shape 24"/>
          <p:cNvSpPr/>
          <p:nvPr/>
        </p:nvSpPr>
        <p:spPr>
          <a:xfrm>
            <a:off x="4343400" y="4242816"/>
            <a:ext cx="3511296" cy="1481328"/>
          </a:xfrm>
          <a:prstGeom prst="roundRect">
            <a:avLst>
              <a:gd name="adj" fmla="val 6173"/>
            </a:avLst>
          </a:prstGeom>
          <a:solidFill>
            <a:srgbClr val="EEF5F6"/>
          </a:solidFill>
          <a:ln/>
          <a:effectLst>
            <a:outerShdw sx="100000" sy="100000" kx="0" ky="0" algn="bl" rotWithShape="0" blurRad="114300" dist="38100" dir="5400000">
              <a:srgbClr val="0A2D39">
                <a:alpha val="16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636008" y="4553712"/>
            <a:ext cx="1417320" cy="859536"/>
          </a:xfrm>
          <a:prstGeom prst="roundRect">
            <a:avLst>
              <a:gd name="adj" fmla="val 7447"/>
            </a:avLst>
          </a:prstGeom>
          <a:solidFill>
            <a:srgbClr val="C9791A"/>
          </a:solidFill>
          <a:ln/>
        </p:spPr>
      </p:sp>
      <p:sp>
        <p:nvSpPr>
          <p:cNvPr id="29" name="Shape 26"/>
          <p:cNvSpPr/>
          <p:nvPr/>
        </p:nvSpPr>
        <p:spPr>
          <a:xfrm>
            <a:off x="5056632" y="4718304"/>
            <a:ext cx="576072" cy="109728"/>
          </a:xfrm>
          <a:prstGeom prst="roundRect">
            <a:avLst>
              <a:gd name="adj" fmla="val 50000"/>
            </a:avLst>
          </a:prstGeom>
          <a:solidFill>
            <a:srgbClr val="FFFFFF">
              <a:alpha val="65000"/>
            </a:srgbClr>
          </a:solidFill>
          <a:ln/>
        </p:spPr>
      </p:sp>
      <p:sp>
        <p:nvSpPr>
          <p:cNvPr id="30" name="Text 27"/>
          <p:cNvSpPr/>
          <p:nvPr/>
        </p:nvSpPr>
        <p:spPr>
          <a:xfrm>
            <a:off x="4636008" y="4553712"/>
            <a:ext cx="14173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331</a:t>
            </a:r>
            <a:endParaRPr lang="en-US" sz="2700" dirty="0"/>
          </a:p>
        </p:txBody>
      </p:sp>
      <p:sp>
        <p:nvSpPr>
          <p:cNvPr id="31" name="Text 28"/>
          <p:cNvSpPr/>
          <p:nvPr/>
        </p:nvSpPr>
        <p:spPr>
          <a:xfrm>
            <a:off x="6217920" y="4553712"/>
            <a:ext cx="145389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Mình đang nợ nhà cung cấp</a:t>
            </a:r>
            <a:endParaRPr lang="en-US" sz="1350" dirty="0"/>
          </a:p>
        </p:txBody>
      </p:sp>
      <p:sp>
        <p:nvSpPr>
          <p:cNvPr id="32" name="Shape 29"/>
          <p:cNvSpPr/>
          <p:nvPr/>
        </p:nvSpPr>
        <p:spPr>
          <a:xfrm>
            <a:off x="8138160" y="4242816"/>
            <a:ext cx="3511296" cy="1481328"/>
          </a:xfrm>
          <a:prstGeom prst="roundRect">
            <a:avLst>
              <a:gd name="adj" fmla="val 6173"/>
            </a:avLst>
          </a:prstGeom>
          <a:solidFill>
            <a:srgbClr val="EEF5F6"/>
          </a:solidFill>
          <a:ln/>
          <a:effectLst>
            <a:outerShdw sx="100000" sy="100000" kx="0" ky="0" algn="bl" rotWithShape="0" blurRad="114300" dist="38100" dir="5400000">
              <a:srgbClr val="0A2D39">
                <a:alpha val="16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8430768" y="4553712"/>
            <a:ext cx="1417320" cy="859536"/>
          </a:xfrm>
          <a:prstGeom prst="roundRect">
            <a:avLst>
              <a:gd name="adj" fmla="val 7447"/>
            </a:avLst>
          </a:prstGeom>
          <a:solidFill>
            <a:srgbClr val="11947B"/>
          </a:solidFill>
          <a:ln/>
        </p:spPr>
      </p:sp>
      <p:sp>
        <p:nvSpPr>
          <p:cNvPr id="34" name="Shape 31"/>
          <p:cNvSpPr/>
          <p:nvPr/>
        </p:nvSpPr>
        <p:spPr>
          <a:xfrm>
            <a:off x="8851392" y="4718304"/>
            <a:ext cx="576072" cy="109728"/>
          </a:xfrm>
          <a:prstGeom prst="roundRect">
            <a:avLst>
              <a:gd name="adj" fmla="val 50000"/>
            </a:avLst>
          </a:prstGeom>
          <a:solidFill>
            <a:srgbClr val="FFFFFF">
              <a:alpha val="65000"/>
            </a:srgbClr>
          </a:solidFill>
          <a:ln/>
        </p:spPr>
      </p:sp>
      <p:sp>
        <p:nvSpPr>
          <p:cNvPr id="35" name="Text 32"/>
          <p:cNvSpPr/>
          <p:nvPr/>
        </p:nvSpPr>
        <p:spPr>
          <a:xfrm>
            <a:off x="8430768" y="4553712"/>
            <a:ext cx="14173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511</a:t>
            </a:r>
            <a:endParaRPr lang="en-US" sz="2700" dirty="0"/>
          </a:p>
        </p:txBody>
      </p:sp>
      <p:sp>
        <p:nvSpPr>
          <p:cNvPr id="36" name="Text 33"/>
          <p:cNvSpPr/>
          <p:nvPr/>
        </p:nvSpPr>
        <p:spPr>
          <a:xfrm>
            <a:off x="10012680" y="4553712"/>
            <a:ext cx="145389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Doanh thu bán hàng</a:t>
            </a:r>
            <a:endParaRPr lang="en-US" sz="1350" dirty="0"/>
          </a:p>
        </p:txBody>
      </p:sp>
      <p:sp>
        <p:nvSpPr>
          <p:cNvPr id="37" name="Text 34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7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cáo quản trị · Toàn tập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0424160" y="6455664"/>
            <a:ext cx="1216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13232" cy="713232"/>
          </a:xfrm>
          <a:prstGeom prst="ellipse">
            <a:avLst/>
          </a:prstGeom>
          <a:solidFill>
            <a:srgbClr val="15788E"/>
          </a:solidFill>
          <a:ln/>
          <a:effectLst>
            <a:outerShdw sx="100000" sy="100000" kx="0" ky="0" algn="bl" rotWithShape="0" blurRad="88900" dist="25400" dir="5400000">
              <a:srgbClr val="0A2D39">
                <a:alpha val="18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3550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81328" y="420624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1578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2.2 · PHÂN LOẠI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481328" y="676656"/>
            <a:ext cx="10149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52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 loại tài khoản (+ loại 0)</a:t>
            </a:r>
            <a:endParaRPr lang="en-US" sz="27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72768"/>
          <a:ext cx="6903720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2743200"/>
                <a:gridCol w="1691640"/>
                <a:gridCol w="1691640"/>
              </a:tblGrid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Loại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788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Tên nhóm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788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Bản chất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788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Số dư bình thường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788E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5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5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Tài sản ngắn hạn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578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Tài sản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578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Bên Nợ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5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5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Tài sản dài hạn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578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Tài sản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578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Bên Nợ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5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5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Nợ phải trả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194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Nguồn vốn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194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Bên Có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5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5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Vốn chủ sở hữu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194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Nguồn vốn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194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Bên Có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5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5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Doanh thu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194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Doanh thu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194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Bên Có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5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5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 phí SX, kinh doanh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C0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 phí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578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Bên Nợ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5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5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Thu nhập khác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194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Thu nhập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194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Bên Có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5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5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 phí khác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C0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 phí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578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Bên Nợ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5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5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Xác định KQKD (TK 911)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C979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Trung gian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E76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Không còn dư cuối kỳ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5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5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Tài khoản ngoài bảng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E76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Theo dõi thêm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E76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Ngoài bảng cân đối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7726680" y="1572768"/>
            <a:ext cx="3913632" cy="2331720"/>
          </a:xfrm>
          <a:prstGeom prst="roundRect">
            <a:avLst>
              <a:gd name="adj" fmla="val 3922"/>
            </a:avLst>
          </a:prstGeom>
          <a:solidFill>
            <a:srgbClr val="EEF5F6"/>
          </a:solidFill>
          <a:ln/>
          <a:effectLst>
            <a:outerShdw sx="100000" sy="100000" kx="0" ky="0" algn="bl" rotWithShape="0" blurRad="114300" dist="38100" dir="5400000">
              <a:srgbClr val="0A2D39">
                <a:alpha val="16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8001000" y="17556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578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CÁCH NHỚ GỌN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8001000" y="2103120"/>
            <a:ext cx="34290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400" b="1" dirty="0">
                <a:solidFill>
                  <a:srgbClr val="1578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1, 2</a:t>
            </a:r>
            <a:pPr algn="l"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Tài sản (cái mình có)
</a:t>
            </a:r>
            <a:pPr algn="l" indent="0" marL="0">
              <a:lnSpc>
                <a:spcPct val="122000"/>
              </a:lnSpc>
              <a:buNone/>
            </a:pPr>
            <a:r>
              <a:rPr lang="en-US" sz="1400" b="1" dirty="0">
                <a:solidFill>
                  <a:srgbClr val="119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3, 4</a:t>
            </a:r>
            <a:pPr algn="l"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Nguồn vốn (tiền từ đâu ra)
</a:t>
            </a:r>
            <a:pPr algn="l" indent="0" marL="0">
              <a:lnSpc>
                <a:spcPct val="122000"/>
              </a:lnSpc>
              <a:buNone/>
            </a:pPr>
            <a:r>
              <a:rPr lang="en-US" sz="1400" b="1" dirty="0">
                <a:solidFill>
                  <a:srgbClr val="119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5, 7</a:t>
            </a:r>
            <a:pPr algn="l"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vào tiền (doanh thu / thu nhập)
</a:t>
            </a:r>
            <a:pPr algn="l" indent="0" marL="0">
              <a:lnSpc>
                <a:spcPct val="122000"/>
              </a:lnSpc>
              <a:buNone/>
            </a:pPr>
            <a:r>
              <a:rPr lang="en-US" sz="1400" b="1" dirty="0">
                <a:solidFill>
                  <a:srgbClr val="C0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6, 8</a:t>
            </a:r>
            <a:pPr algn="l"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ra tiền (chi phí)
</a:t>
            </a:r>
            <a:pPr algn="l" indent="0" marL="0">
              <a:lnSpc>
                <a:spcPct val="122000"/>
              </a:lnSpc>
              <a:buNone/>
            </a:pPr>
            <a:r>
              <a:rPr lang="en-US" sz="1400" b="1" dirty="0">
                <a:solidFill>
                  <a:srgbClr val="C97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pPr algn="l"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chốt lãi / lỗ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7726680" y="4069080"/>
            <a:ext cx="3913632" cy="2084832"/>
          </a:xfrm>
          <a:prstGeom prst="roundRect">
            <a:avLst>
              <a:gd name="adj" fmla="val 4386"/>
            </a:avLst>
          </a:prstGeom>
          <a:solidFill>
            <a:srgbClr val="0E3A4A"/>
          </a:solidFill>
          <a:ln/>
          <a:effectLst>
            <a:outerShdw sx="100000" sy="100000" kx="0" ky="0" algn="bl" rotWithShape="0" blurRad="114300" dist="38100" dir="5400000">
              <a:srgbClr val="0A2D39">
                <a:alpha val="16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8001000" y="424281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8F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PHƯƠNG TRÌNH NỀN TẢNG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8001000" y="4553712"/>
            <a:ext cx="3429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TÀI SẢN</a:t>
            </a:r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FE3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=  </a:t>
            </a:r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194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NỢ PHẢI TRẢ</a:t>
            </a:r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FE3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+  </a:t>
            </a:r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194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VỐN CHỦ SỞ HỮU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8001000" y="5413248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i="1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Mọi thứ mình có (1,2) đều phải có nguồn (3,4). Đây là lý do sổ sách luôn cân.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7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cáo quản trị · Toàn tập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0424160" y="6455664"/>
            <a:ext cx="1216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13232" cy="713232"/>
          </a:xfrm>
          <a:prstGeom prst="ellipse">
            <a:avLst/>
          </a:prstGeom>
          <a:solidFill>
            <a:srgbClr val="15788E"/>
          </a:solidFill>
          <a:ln/>
          <a:effectLst>
            <a:outerShdw sx="100000" sy="100000" kx="0" ky="0" algn="bl" rotWithShape="0" blurRad="88900" dist="25400" dir="5400000">
              <a:srgbClr val="0A2D39">
                <a:alpha val="18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3550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81328" y="420624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1578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2.3 · QUY TẮC XƯƠNG SỐNG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481328" y="676656"/>
            <a:ext cx="10149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52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Nợ &amp; Có — không phải tốt / xấu, chỉ là trái–phải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1572768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“Nợ” (Debit) và “Có” (Credit) </a:t>
            </a:r>
            <a:pPr indent="0" marL="0">
              <a:buNone/>
            </a:pPr>
            <a:r>
              <a:rPr lang="en-US" sz="1450" b="1" dirty="0">
                <a:solidFill>
                  <a:srgbClr val="C0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mang nghĩa tốt/xấu</a:t>
            </a:r>
            <a:pPr indent="0" marL="0">
              <a:buNone/>
            </a:pPr>
            <a:r>
              <a:rPr lang="en-US" sz="145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chúng chỉ là </a:t>
            </a:r>
            <a:pPr indent="0" marL="0">
              <a:buNone/>
            </a:pPr>
            <a:r>
              <a:rPr lang="en-US" sz="1450" b="1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 cột trái–phải</a:t>
            </a:r>
            <a:pPr indent="0" marL="0">
              <a:buNone/>
            </a:pPr>
            <a:r>
              <a:rPr lang="en-US" sz="145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của một tài khoản.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548640" y="2212848"/>
            <a:ext cx="5440680" cy="1828800"/>
          </a:xfrm>
          <a:prstGeom prst="roundRect">
            <a:avLst>
              <a:gd name="adj" fmla="val 5000"/>
            </a:avLst>
          </a:prstGeom>
          <a:solidFill>
            <a:srgbClr val="EEF5F6"/>
          </a:solidFill>
          <a:ln/>
          <a:effectLst>
            <a:outerShdw sx="100000" sy="100000" kx="0" ky="0" algn="bl" rotWithShape="0" blurRad="114300" dist="38100" dir="5400000">
              <a:srgbClr val="0A2D39">
                <a:alpha val="16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41248" y="243230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78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TĂNG BÊN NỢ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841248" y="2852928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Tài sản</a:t>
            </a:r>
            <a:pPr indent="0" marL="0">
              <a:buNone/>
            </a:pPr>
            <a:r>
              <a:rPr lang="en-US" sz="150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(loại 1, 2)</a:t>
            </a:r>
            <a:pPr indent="0" marL="0">
              <a:buNone/>
            </a:pPr>
            <a:r>
              <a:rPr lang="en-US" sz="1500" dirty="0">
                <a:solidFill>
                  <a:srgbClr val="5E7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&amp;   </a:t>
            </a:r>
            <a:pPr indent="0" marL="0">
              <a:buNone/>
            </a:pPr>
            <a:r>
              <a:rPr lang="en-US" sz="1500" b="1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phí</a:t>
            </a:r>
            <a:pPr indent="0" marL="0">
              <a:buNone/>
            </a:pPr>
            <a:r>
              <a:rPr lang="en-US" sz="150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(loại 6, 8)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41248" y="338328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578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Tăng → ghi bên Nợ   ·   Giảm → ghi bên Có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99632" y="2212848"/>
            <a:ext cx="5440680" cy="1828800"/>
          </a:xfrm>
          <a:prstGeom prst="roundRect">
            <a:avLst>
              <a:gd name="adj" fmla="val 5000"/>
            </a:avLst>
          </a:prstGeom>
          <a:solidFill>
            <a:srgbClr val="E4F2EE"/>
          </a:solidFill>
          <a:ln/>
          <a:effectLst>
            <a:outerShdw sx="100000" sy="100000" kx="0" ky="0" algn="bl" rotWithShape="0" blurRad="114300" dist="38100" dir="5400000">
              <a:srgbClr val="0A2D39">
                <a:alpha val="16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492240" y="243230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194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TĂNG BÊN CÓ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6492240" y="2852928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Nguồn vốn</a:t>
            </a:r>
            <a:pPr indent="0" marL="0">
              <a:buNone/>
            </a:pPr>
            <a:r>
              <a:rPr lang="en-US" sz="150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(loại 3, 4)</a:t>
            </a:r>
            <a:pPr indent="0" marL="0">
              <a:buNone/>
            </a:pPr>
            <a:r>
              <a:rPr lang="en-US" sz="1500" dirty="0">
                <a:solidFill>
                  <a:srgbClr val="5E7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&amp;   </a:t>
            </a:r>
            <a:pPr indent="0" marL="0">
              <a:buNone/>
            </a:pPr>
            <a:r>
              <a:rPr lang="en-US" sz="1500" b="1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Doanh thu</a:t>
            </a:r>
            <a:pPr indent="0" marL="0">
              <a:buNone/>
            </a:pPr>
            <a:r>
              <a:rPr lang="en-US" sz="150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(loại 5, 7)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492240" y="338328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19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Tăng → ghi bên Có   ·   Giảm → ghi bên Nợ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48640" y="4224528"/>
            <a:ext cx="11091672" cy="1783080"/>
          </a:xfrm>
          <a:prstGeom prst="roundRect">
            <a:avLst>
              <a:gd name="adj" fmla="val 5128"/>
            </a:avLst>
          </a:prstGeom>
          <a:solidFill>
            <a:srgbClr val="0E3A4A"/>
          </a:solidFill>
          <a:ln/>
          <a:effectLst>
            <a:outerShdw sx="100000" sy="100000" kx="0" ky="0" algn="bl" rotWithShape="0" blurRad="114300" dist="38100" dir="5400000">
              <a:srgbClr val="0A2D39">
                <a:alpha val="16000"/>
              </a:srgbClr>
            </a:outerShdw>
          </a:effectLst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229600" y="-8229600"/>
            <a:ext cx="9144" cy="914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868680" y="4434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CÁCH NHỚ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868680" y="4736592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Tài sản và Chi phí</a:t>
            </a:r>
            <a:pPr algn="l" indent="0" marL="0">
              <a:buNone/>
            </a:pPr>
            <a:r>
              <a:rPr lang="en-US" sz="2000" dirty="0">
                <a:solidFill>
                  <a:srgbClr val="CFE3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— tăng bên </a:t>
            </a:r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Nợ</a:t>
            </a:r>
            <a:pPr algn="l" indent="0" marL="0">
              <a:buNone/>
            </a:pPr>
            <a:r>
              <a:rPr lang="en-US" sz="2000" dirty="0">
                <a:solidFill>
                  <a:srgbClr val="CFE3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    </a:t>
            </a:r>
            <a:pPr algn="l" indent="0" marL="0">
              <a:buNone/>
            </a:pPr>
            <a:r>
              <a:rPr lang="en-US" sz="2000" b="1" dirty="0">
                <a:solidFill>
                  <a:srgbClr val="1194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Nguồn vốn và Doanh thu</a:t>
            </a:r>
            <a:pPr algn="l" indent="0" marL="0">
              <a:buNone/>
            </a:pPr>
            <a:r>
              <a:rPr lang="en-US" sz="2000" dirty="0">
                <a:solidFill>
                  <a:srgbClr val="CFE3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— tăng bên </a:t>
            </a:r>
            <a:pPr algn="l" indent="0" marL="0">
              <a:buNone/>
            </a:pPr>
            <a:r>
              <a:rPr lang="en-US" sz="2000" b="1" dirty="0">
                <a:solidFill>
                  <a:srgbClr val="1194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</a:t>
            </a:r>
            <a:pPr algn="l" indent="0" marL="0">
              <a:buNone/>
            </a:pPr>
            <a:r>
              <a:rPr lang="en-US" sz="2000" dirty="0">
                <a:solidFill>
                  <a:srgbClr val="CFE3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2000" dirty="0"/>
          </a:p>
        </p:txBody>
      </p:sp>
      <p:sp>
        <p:nvSpPr>
          <p:cNvPr id="19" name="Text 15"/>
          <p:cNvSpPr/>
          <p:nvPr/>
        </p:nvSpPr>
        <p:spPr>
          <a:xfrm>
            <a:off x="868680" y="544068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 vế đối xứng nhau.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7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cáo quản trị · Toàn tập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10424160" y="6455664"/>
            <a:ext cx="1216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13232" cy="713232"/>
          </a:xfrm>
          <a:prstGeom prst="ellipse">
            <a:avLst/>
          </a:prstGeom>
          <a:solidFill>
            <a:srgbClr val="15788E"/>
          </a:solidFill>
          <a:ln/>
          <a:effectLst>
            <a:outerShdw sx="100000" sy="100000" kx="0" ky="0" algn="bl" rotWithShape="0" blurRad="88900" dist="25400" dir="5400000">
              <a:srgbClr val="0A2D39">
                <a:alpha val="18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3550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81328" y="420624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1578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2.4–2.5 · CẤU TRÚC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481328" y="676656"/>
            <a:ext cx="10149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52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Tài khoản cha–con (TreeList) &amp; tài khoản lưỡng tính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572768"/>
            <a:ext cx="5440680" cy="3703320"/>
          </a:xfrm>
          <a:prstGeom prst="roundRect">
            <a:avLst>
              <a:gd name="adj" fmla="val 2469"/>
            </a:avLst>
          </a:prstGeom>
          <a:solidFill>
            <a:srgbClr val="EEF5F6"/>
          </a:solidFill>
          <a:ln/>
          <a:effectLst>
            <a:outerShdw sx="100000" sy="100000" kx="0" ky="0" algn="bl" rotWithShape="0" blurRad="114300" dist="38100" dir="5400000">
              <a:srgbClr val="0A2D39">
                <a:alpha val="16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41248" y="175564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1578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 = TỔNG CÁC CON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77824" y="2121408"/>
            <a:ext cx="841248" cy="310896"/>
          </a:xfrm>
          <a:prstGeom prst="roundRect">
            <a:avLst>
              <a:gd name="adj" fmla="val 14706"/>
            </a:avLst>
          </a:prstGeom>
          <a:solidFill>
            <a:srgbClr val="15788E"/>
          </a:solidFill>
          <a:ln/>
        </p:spPr>
      </p:sp>
      <p:sp>
        <p:nvSpPr>
          <p:cNvPr id="9" name="Text 6"/>
          <p:cNvSpPr/>
          <p:nvPr/>
        </p:nvSpPr>
        <p:spPr>
          <a:xfrm>
            <a:off x="877824" y="2121408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156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828800" y="2121408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Hàng hóa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1088136" y="248716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7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└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1380744" y="2523744"/>
            <a:ext cx="841248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11947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380744" y="2523744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9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1561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2331720" y="2523744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Giá mua hàng hóa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1088136" y="2889504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7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└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1380744" y="2926080"/>
            <a:ext cx="841248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11947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380744" y="2926080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9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1562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2331720" y="292608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phí thu mua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877824" y="3328416"/>
            <a:ext cx="841248" cy="310896"/>
          </a:xfrm>
          <a:prstGeom prst="roundRect">
            <a:avLst>
              <a:gd name="adj" fmla="val 14706"/>
            </a:avLst>
          </a:prstGeom>
          <a:solidFill>
            <a:srgbClr val="15788E"/>
          </a:solidFill>
          <a:ln/>
        </p:spPr>
      </p:sp>
      <p:sp>
        <p:nvSpPr>
          <p:cNvPr id="20" name="Text 17"/>
          <p:cNvSpPr/>
          <p:nvPr/>
        </p:nvSpPr>
        <p:spPr>
          <a:xfrm>
            <a:off x="877824" y="3328416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131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828800" y="3328416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Phải thu khách hàng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1088136" y="3694176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7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└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1380744" y="3730752"/>
            <a:ext cx="841248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11947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380744" y="3730752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9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131_A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2331720" y="373075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Khách A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1088136" y="409651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7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└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1380744" y="4133088"/>
            <a:ext cx="841248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11947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380744" y="4133088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9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131_B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2331720" y="4133088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Khách B …</a:t>
            </a:r>
            <a:endParaRPr lang="en-US" sz="1250" dirty="0"/>
          </a:p>
        </p:txBody>
      </p:sp>
      <p:sp>
        <p:nvSpPr>
          <p:cNvPr id="30" name="Text 27"/>
          <p:cNvSpPr/>
          <p:nvPr/>
        </p:nvSpPr>
        <p:spPr>
          <a:xfrm>
            <a:off x="841248" y="4608576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Đây là lý do màn </a:t>
            </a:r>
            <a:pPr indent="0" marL="0">
              <a:lnSpc>
                <a:spcPct val="102000"/>
              </a:lnSpc>
              <a:buNone/>
            </a:pPr>
            <a:r>
              <a:rPr lang="en-US" sz="1200" b="1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cáo tổng hợp</a:t>
            </a:r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&amp; danh mục TK hiển thị dạng cây </a:t>
            </a:r>
            <a:pPr indent="0" marL="0">
              <a:lnSpc>
                <a:spcPct val="102000"/>
              </a:lnSpc>
              <a:buNone/>
            </a:pPr>
            <a:r>
              <a:rPr lang="en-US" sz="1200" b="1" dirty="0">
                <a:solidFill>
                  <a:srgbClr val="1578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DxTreeList</a:t>
            </a:r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gập/mở để xem cha → con, số của cha = cộng dồn con.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6199632" y="1572768"/>
            <a:ext cx="5440680" cy="3703320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12700">
            <a:solidFill>
              <a:srgbClr val="E0EAEC"/>
            </a:solidFill>
            <a:prstDash val="solid"/>
          </a:ln>
          <a:effectLst>
            <a:outerShdw sx="100000" sy="100000" kx="0" ky="0" algn="bl" rotWithShape="0" blurRad="114300" dist="38100" dir="5400000">
              <a:srgbClr val="0A2D39">
                <a:alpha val="16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6492240" y="175564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C97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TÀI KHOẢN “LƯỠNG TÍNH” — đổi bên tùy tình huống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6492240" y="2157984"/>
            <a:ext cx="4892040" cy="768096"/>
          </a:xfrm>
          <a:prstGeom prst="roundRect">
            <a:avLst>
              <a:gd name="adj" fmla="val 11905"/>
            </a:avLst>
          </a:prstGeom>
          <a:solidFill>
            <a:srgbClr val="EEF5F6"/>
          </a:solidFill>
          <a:ln/>
        </p:spPr>
      </p:sp>
      <p:sp>
        <p:nvSpPr>
          <p:cNvPr id="34" name="Shape 31"/>
          <p:cNvSpPr/>
          <p:nvPr/>
        </p:nvSpPr>
        <p:spPr>
          <a:xfrm>
            <a:off x="6656832" y="2322576"/>
            <a:ext cx="786384" cy="438912"/>
          </a:xfrm>
          <a:prstGeom prst="roundRect">
            <a:avLst>
              <a:gd name="adj" fmla="val 10417"/>
            </a:avLst>
          </a:prstGeom>
          <a:solidFill>
            <a:srgbClr val="E59A2E"/>
          </a:solidFill>
          <a:ln/>
        </p:spPr>
      </p:sp>
      <p:sp>
        <p:nvSpPr>
          <p:cNvPr id="35" name="Text 32"/>
          <p:cNvSpPr/>
          <p:nvPr/>
        </p:nvSpPr>
        <p:spPr>
          <a:xfrm>
            <a:off x="6656832" y="2322576"/>
            <a:ext cx="7863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131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7571232" y="2212848"/>
            <a:ext cx="3703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Phải thu khách hàng
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E7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Thường dư Nợ (khách nợ mình). Khách ứng trước → dư Có.</a:t>
            </a:r>
            <a:endParaRPr lang="en-US" sz="1250" dirty="0"/>
          </a:p>
        </p:txBody>
      </p:sp>
      <p:sp>
        <p:nvSpPr>
          <p:cNvPr id="37" name="Shape 34"/>
          <p:cNvSpPr/>
          <p:nvPr/>
        </p:nvSpPr>
        <p:spPr>
          <a:xfrm>
            <a:off x="6492240" y="3035808"/>
            <a:ext cx="4892040" cy="768096"/>
          </a:xfrm>
          <a:prstGeom prst="roundRect">
            <a:avLst>
              <a:gd name="adj" fmla="val 11905"/>
            </a:avLst>
          </a:prstGeom>
          <a:solidFill>
            <a:srgbClr val="EEF5F6"/>
          </a:solidFill>
          <a:ln/>
        </p:spPr>
      </p:sp>
      <p:sp>
        <p:nvSpPr>
          <p:cNvPr id="38" name="Shape 35"/>
          <p:cNvSpPr/>
          <p:nvPr/>
        </p:nvSpPr>
        <p:spPr>
          <a:xfrm>
            <a:off x="6656832" y="3200400"/>
            <a:ext cx="786384" cy="438912"/>
          </a:xfrm>
          <a:prstGeom prst="roundRect">
            <a:avLst>
              <a:gd name="adj" fmla="val 10417"/>
            </a:avLst>
          </a:prstGeom>
          <a:solidFill>
            <a:srgbClr val="E59A2E"/>
          </a:solidFill>
          <a:ln/>
        </p:spPr>
      </p:sp>
      <p:sp>
        <p:nvSpPr>
          <p:cNvPr id="39" name="Text 36"/>
          <p:cNvSpPr/>
          <p:nvPr/>
        </p:nvSpPr>
        <p:spPr>
          <a:xfrm>
            <a:off x="6656832" y="3200400"/>
            <a:ext cx="7863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331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7571232" y="3090672"/>
            <a:ext cx="3703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Phải trả người bán
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E7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Thường dư Có (mình nợ NCC). Mình trả trước → dư Nợ.</a:t>
            </a:r>
            <a:endParaRPr lang="en-US" sz="1250" dirty="0"/>
          </a:p>
        </p:txBody>
      </p:sp>
      <p:sp>
        <p:nvSpPr>
          <p:cNvPr id="41" name="Shape 38"/>
          <p:cNvSpPr/>
          <p:nvPr/>
        </p:nvSpPr>
        <p:spPr>
          <a:xfrm>
            <a:off x="6492240" y="3913632"/>
            <a:ext cx="4892040" cy="768096"/>
          </a:xfrm>
          <a:prstGeom prst="roundRect">
            <a:avLst>
              <a:gd name="adj" fmla="val 11905"/>
            </a:avLst>
          </a:prstGeom>
          <a:solidFill>
            <a:srgbClr val="EEF5F6"/>
          </a:solidFill>
          <a:ln/>
        </p:spPr>
      </p:sp>
      <p:sp>
        <p:nvSpPr>
          <p:cNvPr id="42" name="Shape 39"/>
          <p:cNvSpPr/>
          <p:nvPr/>
        </p:nvSpPr>
        <p:spPr>
          <a:xfrm>
            <a:off x="6656832" y="4078224"/>
            <a:ext cx="786384" cy="438912"/>
          </a:xfrm>
          <a:prstGeom prst="roundRect">
            <a:avLst>
              <a:gd name="adj" fmla="val 10417"/>
            </a:avLst>
          </a:prstGeom>
          <a:solidFill>
            <a:srgbClr val="E59A2E"/>
          </a:solidFill>
          <a:ln/>
        </p:spPr>
      </p:sp>
      <p:sp>
        <p:nvSpPr>
          <p:cNvPr id="43" name="Text 40"/>
          <p:cNvSpPr/>
          <p:nvPr/>
        </p:nvSpPr>
        <p:spPr>
          <a:xfrm>
            <a:off x="6656832" y="4078224"/>
            <a:ext cx="7863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421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7571232" y="3968496"/>
            <a:ext cx="3703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LN sau thuế chưa phân phối
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E7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Dư Có = lãi lũy kế.  Dư Nợ = lỗ lũy kế.</a:t>
            </a:r>
            <a:endParaRPr lang="en-US" sz="1250" dirty="0"/>
          </a:p>
        </p:txBody>
      </p:sp>
      <p:sp>
        <p:nvSpPr>
          <p:cNvPr id="45" name="Shape 42"/>
          <p:cNvSpPr/>
          <p:nvPr/>
        </p:nvSpPr>
        <p:spPr>
          <a:xfrm>
            <a:off x="6492240" y="4809744"/>
            <a:ext cx="4892040" cy="384048"/>
          </a:xfrm>
          <a:prstGeom prst="roundRect">
            <a:avLst>
              <a:gd name="adj" fmla="val 23810"/>
            </a:avLst>
          </a:prstGeom>
          <a:solidFill>
            <a:srgbClr val="FAF0DE"/>
          </a:solidFill>
          <a:ln/>
        </p:spPr>
      </p:sp>
      <p:sp>
        <p:nvSpPr>
          <p:cNvPr id="46" name="Text 43"/>
          <p:cNvSpPr/>
          <p:nvPr/>
        </p:nvSpPr>
        <p:spPr>
          <a:xfrm>
            <a:off x="6638544" y="4809744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C97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Viết SQL: </a:t>
            </a:r>
            <a:pPr indent="0" marL="0">
              <a:buNone/>
            </a:pPr>
            <a:r>
              <a:rPr lang="en-US" sz="108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 lưỡng tính không được bù trừ tùy tiện — tách phần dư Nợ / dư Có ra đúng chỉ tiêu.</a:t>
            </a:r>
            <a:endParaRPr lang="en-US" sz="1080" dirty="0"/>
          </a:p>
        </p:txBody>
      </p:sp>
      <p:sp>
        <p:nvSpPr>
          <p:cNvPr id="47" name="Text 44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7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cáo quản trị · Toàn tập</a:t>
            </a:r>
            <a:endParaRPr lang="en-US" sz="900" dirty="0"/>
          </a:p>
        </p:txBody>
      </p:sp>
      <p:sp>
        <p:nvSpPr>
          <p:cNvPr id="48" name="Text 45"/>
          <p:cNvSpPr/>
          <p:nvPr/>
        </p:nvSpPr>
        <p:spPr>
          <a:xfrm>
            <a:off x="10424160" y="6455664"/>
            <a:ext cx="1216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13232" cy="713232"/>
          </a:xfrm>
          <a:prstGeom prst="ellipse">
            <a:avLst/>
          </a:prstGeom>
          <a:solidFill>
            <a:srgbClr val="15788E"/>
          </a:solidFill>
          <a:ln/>
          <a:effectLst>
            <a:outerShdw sx="100000" sy="100000" kx="0" ky="0" algn="bl" rotWithShape="0" blurRad="88900" dist="25400" dir="5400000">
              <a:srgbClr val="0A2D39">
                <a:alpha val="18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3550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81328" y="420624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1578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3 · LUẬT BẤT BIẾN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481328" y="676656"/>
            <a:ext cx="10149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52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Nguyên tắc ghi sổ kép (double-entry)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27632"/>
            <a:ext cx="11091672" cy="1463040"/>
          </a:xfrm>
          <a:prstGeom prst="roundRect">
            <a:avLst>
              <a:gd name="adj" fmla="val 6250"/>
            </a:avLst>
          </a:prstGeom>
          <a:solidFill>
            <a:srgbClr val="0E3A4A"/>
          </a:solidFill>
          <a:ln/>
          <a:effectLst>
            <a:outerShdw sx="100000" sy="100000" kx="0" ky="0" algn="bl" rotWithShape="0" blurRad="114300" dist="38100" dir="5400000">
              <a:srgbClr val="0A2D39">
                <a:alpha val="16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68680" y="1627632"/>
            <a:ext cx="10424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CFE3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Mỗi giao dịch luôn chạm vào </a:t>
            </a:r>
            <a:pPr algn="l"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ÍT NHẤT 2 tài khoản</a:t>
            </a:r>
            <a:pPr algn="l"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CFE3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và </a:t>
            </a:r>
            <a:pPr algn="l"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1194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TỔNG GHI NỢ = TỔNG GHI CÓ</a:t>
            </a:r>
            <a:pPr algn="l"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CFE3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1188720" y="3383280"/>
            <a:ext cx="4297680" cy="1508760"/>
          </a:xfrm>
          <a:prstGeom prst="roundRect">
            <a:avLst>
              <a:gd name="adj" fmla="val 6061"/>
            </a:avLst>
          </a:prstGeom>
          <a:solidFill>
            <a:srgbClr val="EEF5F6"/>
          </a:solidFill>
          <a:ln/>
          <a:effectLst>
            <a:outerShdw sx="100000" sy="100000" kx="0" ky="0" algn="bl" rotWithShape="0" blurRad="114300" dist="38100" dir="5400000">
              <a:srgbClr val="0A2D39">
                <a:alpha val="16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1188720" y="354787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578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BÊN NỢ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188720" y="395020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2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Tiền mặt (111) tăng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188720" y="4370832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E7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110.000.000 đ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733288" y="3753612"/>
            <a:ext cx="768096" cy="768096"/>
          </a:xfrm>
          <a:prstGeom prst="ellipse">
            <a:avLst/>
          </a:prstGeom>
          <a:solidFill>
            <a:srgbClr val="11947B"/>
          </a:solidFill>
          <a:ln/>
          <a:effectLst>
            <a:outerShdw sx="100000" sy="100000" kx="0" ky="0" algn="bl" rotWithShape="0" blurRad="76200" dist="25400" dir="5400000">
              <a:srgbClr val="0A2D39">
                <a:alpha val="20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4456" y="3954780"/>
            <a:ext cx="365760" cy="36576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720840" y="3383280"/>
            <a:ext cx="4297680" cy="1508760"/>
          </a:xfrm>
          <a:prstGeom prst="roundRect">
            <a:avLst>
              <a:gd name="adj" fmla="val 6061"/>
            </a:avLst>
          </a:prstGeom>
          <a:solidFill>
            <a:srgbClr val="E4F2EE"/>
          </a:solidFill>
          <a:ln/>
          <a:effectLst>
            <a:outerShdw sx="100000" sy="100000" kx="0" ky="0" algn="bl" rotWithShape="0" blurRad="114300" dist="38100" dir="5400000">
              <a:srgbClr val="0A2D39">
                <a:alpha val="16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6720840" y="354787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19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BÊN CÓ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6720840" y="395020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2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Doanh thu (511) tăng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6720840" y="4370832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E7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110.000.000 đ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548640" y="5138928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Tiền không tự sinh ra — nó dịch chuyển từ chỗ này sang chỗ khác. </a:t>
            </a:r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Nếu tổng Nợ ≠ tổng Có thì chắc chắn có lỗi nhập → đây cũng là cơ chế tự kiểm tra.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7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cáo quản trị · Toàn tập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10424160" y="6455664"/>
            <a:ext cx="1216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13232" cy="713232"/>
          </a:xfrm>
          <a:prstGeom prst="ellipse">
            <a:avLst/>
          </a:prstGeom>
          <a:solidFill>
            <a:srgbClr val="11947B"/>
          </a:solidFill>
          <a:ln/>
          <a:effectLst>
            <a:outerShdw sx="100000" sy="100000" kx="0" ky="0" algn="bl" rotWithShape="0" blurRad="88900" dist="25400" dir="5400000">
              <a:srgbClr val="0A2D39">
                <a:alpha val="18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3550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81328" y="420624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119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4 · ĐỊNH KHOẢN GIAO DỊCH BÁN  (1/2)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481328" y="676656"/>
            <a:ext cx="10149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52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Bút toán 1 — Doanh thu &amp; công nợ phải thu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572768"/>
            <a:ext cx="11091672" cy="868680"/>
          </a:xfrm>
          <a:prstGeom prst="roundRect">
            <a:avLst>
              <a:gd name="adj" fmla="val 10526"/>
            </a:avLst>
          </a:prstGeom>
          <a:solidFill>
            <a:srgbClr val="0E3A4A"/>
          </a:solidFill>
          <a:ln/>
          <a:effectLst>
            <a:outerShdw sx="100000" sy="100000" kx="0" ky="0" algn="bl" rotWithShape="0" blurRad="114300" dist="38100" dir="5400000">
              <a:srgbClr val="0A2D39">
                <a:alpha val="16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68680" y="1572768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19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Tình huống: </a:t>
            </a:r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Bán 1 lô hàng cho khách A. Giá chưa thuế </a:t>
            </a:r>
            <a:pPr algn="l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100.000.000đ</a:t>
            </a:r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VAT 10% = </a:t>
            </a:r>
            <a:pPr algn="l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10.000.000đ</a:t>
            </a:r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tổng khách phải trả </a:t>
            </a:r>
            <a:pPr algn="l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110.000.000đ</a:t>
            </a:r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Khách mua chịu. Giá vốn lô hàng = </a:t>
            </a:r>
            <a:pPr algn="l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70.000.000đ</a:t>
            </a:r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578608"/>
          <a:ext cx="658368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3063240"/>
                <a:gridCol w="1188720"/>
                <a:gridCol w="118872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Tài khoản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788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Tên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788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Nợ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788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788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5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5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Phải thu khách hàng 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b="1" dirty="0">
                          <a:solidFill>
                            <a:srgbClr val="1578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110.000.000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5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5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Doanh thu bán hàng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b="1" dirty="0">
                          <a:solidFill>
                            <a:srgbClr val="1194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100.000.000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5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3331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5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Thuế GTGT đầu ra phải nộp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b="1" dirty="0">
                          <a:solidFill>
                            <a:srgbClr val="1194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10.000.000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5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TỔNG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b="1" dirty="0">
                          <a:solidFill>
                            <a:srgbClr val="15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110.000.000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b="1" dirty="0">
                          <a:solidFill>
                            <a:srgbClr val="15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110.000.000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F0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7315200" y="2578608"/>
            <a:ext cx="4325112" cy="3154680"/>
          </a:xfrm>
          <a:prstGeom prst="roundRect">
            <a:avLst>
              <a:gd name="adj" fmla="val 2899"/>
            </a:avLst>
          </a:prstGeom>
          <a:solidFill>
            <a:srgbClr val="EEF5F6"/>
          </a:solidFill>
          <a:ln/>
          <a:effectLst>
            <a:outerShdw sx="100000" sy="100000" kx="0" ky="0" algn="bl" rotWithShape="0" blurRad="114300" dist="38100" dir="5400000">
              <a:srgbClr val="0A2D39">
                <a:alpha val="16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7589520" y="2743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1578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ĐỌC BÚT TOÁN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7589520" y="3072384"/>
            <a:ext cx="3794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578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Nợ 131 = 110tr —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khách A đang nợ mình (tài sản phải thu tăng).
</a:t>
            </a:r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19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 511 = 100tr —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 nhận doanh thu (phần KHÔNG có thuế).
</a:t>
            </a:r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19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 3331 = 10tr —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thuế thu hộ Nhà nước, sau nộp lại → khoản phải trả.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7589520" y="5358384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9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Kiểm tra:  </a:t>
            </a:r>
            <a:pPr indent="0" marL="0">
              <a:buNone/>
            </a:pPr>
            <a:r>
              <a:rPr lang="en-US" sz="115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Nợ 110 = Có (100 + 10) — cân.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7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cáo quản trị · Toàn tập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0424160" y="6455664"/>
            <a:ext cx="1216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13232" cy="713232"/>
          </a:xfrm>
          <a:prstGeom prst="ellipse">
            <a:avLst/>
          </a:prstGeom>
          <a:solidFill>
            <a:srgbClr val="11947B"/>
          </a:solidFill>
          <a:ln/>
          <a:effectLst>
            <a:outerShdw sx="100000" sy="100000" kx="0" ky="0" algn="bl" rotWithShape="0" blurRad="88900" dist="25400" dir="5400000">
              <a:srgbClr val="0A2D39">
                <a:alpha val="18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3550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81328" y="420624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119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4 · ĐỊNH KHOẢN GIAO DỊCH BÁN  (2/2)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481328" y="676656"/>
            <a:ext cx="10149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52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Bút toán 2 — Giá vốn &amp; xuất kho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15544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Một nghiệp vụ bán sinh ra HAI bút toán — đây là chỗ hầu hết người mới quên bút toán thứ 2.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29968"/>
          <a:ext cx="658368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3063240"/>
                <a:gridCol w="1188720"/>
                <a:gridCol w="118872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Tài khoản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788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Tên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788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Nợ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788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788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5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5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Giá vốn hàng bán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b="1" dirty="0">
                          <a:solidFill>
                            <a:srgbClr val="1578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70.000.000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5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5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Hàng hóa (xuất kho)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b="1" dirty="0">
                          <a:solidFill>
                            <a:srgbClr val="1194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70.000.000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7315200" y="2029968"/>
            <a:ext cx="4325112" cy="1389888"/>
          </a:xfrm>
          <a:prstGeom prst="roundRect">
            <a:avLst>
              <a:gd name="adj" fmla="val 6579"/>
            </a:avLst>
          </a:prstGeom>
          <a:solidFill>
            <a:srgbClr val="EEF5F6"/>
          </a:solidFill>
          <a:ln/>
          <a:effectLst>
            <a:outerShdw sx="100000" sy="100000" kx="0" ky="0" algn="bl" rotWithShape="0" blurRad="114300" dist="38100" dir="5400000">
              <a:srgbClr val="0A2D39">
                <a:alpha val="16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7589520" y="2212848"/>
            <a:ext cx="37947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19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 156 = 70tr —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hàng trong kho giảm.
</a:t>
            </a:r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578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Nợ 632 = 70tr —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hàng đã bán thành chi phí giá vốn.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548640" y="3703320"/>
            <a:ext cx="6583680" cy="1371600"/>
          </a:xfrm>
          <a:prstGeom prst="roundRect">
            <a:avLst>
              <a:gd name="adj" fmla="val 6667"/>
            </a:avLst>
          </a:prstGeom>
          <a:solidFill>
            <a:srgbClr val="E4F2EE"/>
          </a:solidFill>
          <a:ln/>
          <a:effectLst>
            <a:outerShdw sx="100000" sy="100000" kx="0" ky="0" algn="bl" rotWithShape="0" blurRad="114300" dist="38100" dir="5400000">
              <a:srgbClr val="0A2D39">
                <a:alpha val="16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841248" y="385876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119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LỢI NHUẬN GỘP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841248" y="4169664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94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100tr</a:t>
            </a:r>
            <a:pPr algn="l" indent="0" marL="0">
              <a:buNone/>
            </a:pPr>
            <a:r>
              <a:rPr lang="en-US" sz="2200" dirty="0">
                <a:solidFill>
                  <a:srgbClr val="152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doanh thu thuần  −  </a:t>
            </a:r>
            <a:pPr algn="l" indent="0" marL="0">
              <a:buNone/>
            </a:pPr>
            <a:r>
              <a:rPr lang="en-US" sz="2200" b="1" dirty="0">
                <a:solidFill>
                  <a:srgbClr val="1578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70tr</a:t>
            </a:r>
            <a:pPr algn="l" indent="0" marL="0">
              <a:buNone/>
            </a:pPr>
            <a:r>
              <a:rPr lang="en-US" sz="2200" dirty="0">
                <a:solidFill>
                  <a:srgbClr val="152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giá vốn  =  </a:t>
            </a:r>
            <a:pPr algn="l" indent="0" marL="0">
              <a:buNone/>
            </a:pPr>
            <a:r>
              <a:rPr lang="en-US" sz="2200" b="1" dirty="0">
                <a:solidFill>
                  <a:srgbClr val="C979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30tr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841248" y="4700016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Thiếu bút toán 2 → báo cáo có doanh thu mà không có giá vốn → lãi ảo.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7315200" y="3703320"/>
            <a:ext cx="4325112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0EAEC"/>
            </a:solidFill>
            <a:prstDash val="solid"/>
          </a:ln>
          <a:effectLst>
            <a:outerShdw sx="100000" sy="100000" kx="0" ky="0" algn="bl" rotWithShape="0" blurRad="114300" dist="38100" dir="5400000">
              <a:srgbClr val="0A2D39">
                <a:alpha val="16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7589520" y="3858768"/>
            <a:ext cx="3794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b="1" dirty="0">
                <a:solidFill>
                  <a:srgbClr val="1578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 tiền ngay? </a:t>
            </a:r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Đổi 131 → 111/112 ở bút toán 1; bút toán 2 giữ nguyên.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7589520" y="4498848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b="1" dirty="0">
                <a:solidFill>
                  <a:srgbClr val="C97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Nguyên tắc phù hợp: </a:t>
            </a:r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doanh thu &amp; giá vốn phải cùng một kỳ.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7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cáo quản trị · Toàn tập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0424160" y="6455664"/>
            <a:ext cx="1216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13232" cy="713232"/>
          </a:xfrm>
          <a:prstGeom prst="ellipse">
            <a:avLst/>
          </a:prstGeom>
          <a:solidFill>
            <a:srgbClr val="11947B"/>
          </a:solidFill>
          <a:ln/>
          <a:effectLst>
            <a:outerShdw sx="100000" sy="100000" kx="0" ky="0" algn="bl" rotWithShape="0" blurRad="88900" dist="25400" dir="5400000">
              <a:srgbClr val="0A2D39">
                <a:alpha val="18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3550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81328" y="420624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119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4.6 · DOANH THU THUẦN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481328" y="676656"/>
            <a:ext cx="10149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52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Doanh thu thuần = 511 − các khoản giảm trừ (521)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1572768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phải lúc nào cũng bán trọn giá. Ba khoản làm giảm doanh thu, ghi vào TK 521 (theo TT 200):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548640" y="2121408"/>
            <a:ext cx="3584448" cy="1783080"/>
          </a:xfrm>
          <a:prstGeom prst="roundRect">
            <a:avLst>
              <a:gd name="adj" fmla="val 5128"/>
            </a:avLst>
          </a:prstGeom>
          <a:solidFill>
            <a:srgbClr val="EEF5F6"/>
          </a:solidFill>
          <a:ln/>
          <a:effectLst>
            <a:outerShdw sx="100000" sy="100000" kx="0" ky="0" algn="bl" rotWithShape="0" blurRad="114300" dist="38100" dir="5400000">
              <a:srgbClr val="0A2D39">
                <a:alpha val="1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59536" y="2414016"/>
            <a:ext cx="1188720" cy="502920"/>
          </a:xfrm>
          <a:prstGeom prst="roundRect">
            <a:avLst>
              <a:gd name="adj" fmla="val 10909"/>
            </a:avLst>
          </a:prstGeom>
          <a:solidFill>
            <a:srgbClr val="11947B"/>
          </a:solidFill>
          <a:ln/>
        </p:spPr>
      </p:sp>
      <p:sp>
        <p:nvSpPr>
          <p:cNvPr id="9" name="Text 6"/>
          <p:cNvSpPr/>
          <p:nvPr/>
        </p:nvSpPr>
        <p:spPr>
          <a:xfrm>
            <a:off x="859536" y="2414016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5211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59536" y="3035808"/>
            <a:ext cx="2962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Chiết khấu thương mại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59536" y="3401568"/>
            <a:ext cx="2962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E7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Giảm giá vì khách mua số lượng lớn.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297680" y="2121408"/>
            <a:ext cx="3584448" cy="1783080"/>
          </a:xfrm>
          <a:prstGeom prst="roundRect">
            <a:avLst>
              <a:gd name="adj" fmla="val 5128"/>
            </a:avLst>
          </a:prstGeom>
          <a:solidFill>
            <a:srgbClr val="EEF5F6"/>
          </a:solidFill>
          <a:ln/>
          <a:effectLst>
            <a:outerShdw sx="100000" sy="100000" kx="0" ky="0" algn="bl" rotWithShape="0" blurRad="114300" dist="38100" dir="5400000">
              <a:srgbClr val="0A2D39">
                <a:alpha val="1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608576" y="2414016"/>
            <a:ext cx="1188720" cy="502920"/>
          </a:xfrm>
          <a:prstGeom prst="roundRect">
            <a:avLst>
              <a:gd name="adj" fmla="val 10909"/>
            </a:avLst>
          </a:prstGeom>
          <a:solidFill>
            <a:srgbClr val="11947B"/>
          </a:solidFill>
          <a:ln/>
        </p:spPr>
      </p:sp>
      <p:sp>
        <p:nvSpPr>
          <p:cNvPr id="14" name="Text 11"/>
          <p:cNvSpPr/>
          <p:nvPr/>
        </p:nvSpPr>
        <p:spPr>
          <a:xfrm>
            <a:off x="4608576" y="2414016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5212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4608576" y="3035808"/>
            <a:ext cx="2962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Hàng bán bị trả lại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4608576" y="3401568"/>
            <a:ext cx="2962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E7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Khách trả lại hàng.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8046720" y="2121408"/>
            <a:ext cx="3584448" cy="1783080"/>
          </a:xfrm>
          <a:prstGeom prst="roundRect">
            <a:avLst>
              <a:gd name="adj" fmla="val 5128"/>
            </a:avLst>
          </a:prstGeom>
          <a:solidFill>
            <a:srgbClr val="EEF5F6"/>
          </a:solidFill>
          <a:ln/>
          <a:effectLst>
            <a:outerShdw sx="100000" sy="100000" kx="0" ky="0" algn="bl" rotWithShape="0" blurRad="114300" dist="38100" dir="5400000">
              <a:srgbClr val="0A2D39">
                <a:alpha val="16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357616" y="2414016"/>
            <a:ext cx="1188720" cy="502920"/>
          </a:xfrm>
          <a:prstGeom prst="roundRect">
            <a:avLst>
              <a:gd name="adj" fmla="val 10909"/>
            </a:avLst>
          </a:prstGeom>
          <a:solidFill>
            <a:srgbClr val="11947B"/>
          </a:solidFill>
          <a:ln/>
        </p:spPr>
      </p:sp>
      <p:sp>
        <p:nvSpPr>
          <p:cNvPr id="19" name="Text 16"/>
          <p:cNvSpPr/>
          <p:nvPr/>
        </p:nvSpPr>
        <p:spPr>
          <a:xfrm>
            <a:off x="8357616" y="2414016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5213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8357616" y="3035808"/>
            <a:ext cx="2962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Giảm giá hàng bán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8357616" y="3401568"/>
            <a:ext cx="2962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E7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Hàng kém phẩm chất nên bớt giá.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548640" y="4160520"/>
            <a:ext cx="5486400" cy="960120"/>
          </a:xfrm>
          <a:prstGeom prst="roundRect">
            <a:avLst>
              <a:gd name="adj" fmla="val 9524"/>
            </a:avLst>
          </a:prstGeom>
          <a:solidFill>
            <a:srgbClr val="0E3A4A"/>
          </a:solidFill>
          <a:ln/>
          <a:effectLst>
            <a:outerShdw sx="100000" sy="100000" kx="0" ky="0" algn="bl" rotWithShape="0" blurRad="114300" dist="38100" dir="5400000">
              <a:srgbClr val="0A2D39">
                <a:alpha val="16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548640" y="4160520"/>
            <a:ext cx="5486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Doanh thu thuần</a:t>
            </a:r>
            <a:pPr algn="ctr" indent="0" marL="0">
              <a:buNone/>
            </a:pPr>
            <a:r>
              <a:rPr lang="en-US" sz="2200" dirty="0">
                <a:solidFill>
                  <a:srgbClr val="CFE3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=  </a:t>
            </a:r>
            <a:pPr algn="ctr" indent="0" marL="0">
              <a:buNone/>
            </a:pPr>
            <a:r>
              <a:rPr lang="en-US" sz="2200" b="1" dirty="0">
                <a:solidFill>
                  <a:srgbClr val="1194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511</a:t>
            </a:r>
            <a:pPr algn="ctr" indent="0" marL="0">
              <a:buNone/>
            </a:pPr>
            <a:r>
              <a:rPr lang="en-US" sz="2200" dirty="0">
                <a:solidFill>
                  <a:srgbClr val="CFE3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−  </a:t>
            </a:r>
            <a:pPr algn="ctr" indent="0" marL="0">
              <a:buNone/>
            </a:pPr>
            <a:r>
              <a:rPr lang="en-US" sz="2200" b="1" dirty="0">
                <a:solidFill>
                  <a:srgbClr val="E59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521</a:t>
            </a:r>
            <a:endParaRPr lang="en-US" sz="2200" dirty="0"/>
          </a:p>
        </p:txBody>
      </p:sp>
      <p:sp>
        <p:nvSpPr>
          <p:cNvPr id="24" name="Shape 21"/>
          <p:cNvSpPr/>
          <p:nvPr/>
        </p:nvSpPr>
        <p:spPr>
          <a:xfrm>
            <a:off x="6217920" y="4160520"/>
            <a:ext cx="5422392" cy="960120"/>
          </a:xfrm>
          <a:prstGeom prst="roundRect">
            <a:avLst>
              <a:gd name="adj" fmla="val 9524"/>
            </a:avLst>
          </a:prstGeom>
          <a:solidFill>
            <a:srgbClr val="FAF0DE"/>
          </a:solidFill>
          <a:ln/>
          <a:effectLst>
            <a:outerShdw sx="100000" sy="100000" kx="0" ky="0" algn="bl" rotWithShape="0" blurRad="114300" dist="38100" dir="5400000">
              <a:srgbClr val="0A2D39">
                <a:alpha val="16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6492240" y="4160520"/>
            <a:ext cx="48737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C97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Nối với KPI: </a:t>
            </a:r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đây chính là chỉ tiêu “Doanh thu thuần” trên thẻ KPI. Lấy thẳng 511 mà quên trừ 521 → con số cao hơn thực tế.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7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cáo quản trị · Toàn tập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424160" y="6455664"/>
            <a:ext cx="1216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19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13232" cy="713232"/>
          </a:xfrm>
          <a:prstGeom prst="ellipse">
            <a:avLst/>
          </a:prstGeom>
          <a:solidFill>
            <a:srgbClr val="15788E"/>
          </a:solidFill>
          <a:ln/>
          <a:effectLst>
            <a:outerShdw sx="100000" sy="100000" kx="0" ky="0" algn="bl" rotWithShape="0" blurRad="88900" dist="25400" dir="5400000">
              <a:srgbClr val="0A2D39">
                <a:alpha val="18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3550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81328" y="420624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1578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5 · ĐỊNH KHOẢN GIAO DỊCH MUA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481328" y="676656"/>
            <a:ext cx="10149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52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Mua hàng nhập kho + phương pháp quản kho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15544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 dụ: </a:t>
            </a:r>
            <a:pPr indent="0" marL="0">
              <a:buNone/>
            </a:pPr>
            <a:r>
              <a:rPr lang="en-US" sz="135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Mua hàng 80.000.000đ, VAT đầu vào 10% = 8.000.000đ, tổng nợ NCC 88.000.000đ, chưa trả.</a:t>
            </a:r>
            <a:endParaRPr lang="en-US" sz="13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93392"/>
          <a:ext cx="658368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3063240"/>
                <a:gridCol w="1188720"/>
                <a:gridCol w="118872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Tài khoản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788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Tên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788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Nợ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788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788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5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5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Hàng hóa (nhập kho)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b="1" dirty="0">
                          <a:solidFill>
                            <a:srgbClr val="1578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80.000.000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5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1331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5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Thuế GTGT được khấu trừ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b="1" dirty="0">
                          <a:solidFill>
                            <a:srgbClr val="1578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8.000.000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5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5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Phải trả người bán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b="1" dirty="0">
                          <a:solidFill>
                            <a:srgbClr val="1194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88.000.000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7315200" y="1993392"/>
            <a:ext cx="4325112" cy="1755648"/>
          </a:xfrm>
          <a:prstGeom prst="roundRect">
            <a:avLst>
              <a:gd name="adj" fmla="val 5208"/>
            </a:avLst>
          </a:prstGeom>
          <a:solidFill>
            <a:srgbClr val="E4F2EE"/>
          </a:solidFill>
          <a:ln/>
          <a:effectLst>
            <a:outerShdw sx="100000" sy="100000" kx="0" ky="0" algn="bl" rotWithShape="0" blurRad="114300" dist="38100" dir="5400000">
              <a:srgbClr val="0A2D39">
                <a:alpha val="16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7589520" y="215798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119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LIÊN HỆ THUẾ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7589520" y="2487168"/>
            <a:ext cx="3794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50" b="1" dirty="0">
                <a:solidFill>
                  <a:srgbClr val="152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VAT phải nộp</a:t>
            </a:r>
            <a:pPr algn="l" indent="0" marL="0">
              <a:lnSpc>
                <a:spcPct val="108000"/>
              </a:lnSpc>
              <a:buNone/>
            </a:pPr>
            <a:r>
              <a:rPr lang="en-US" sz="1550" dirty="0">
                <a:solidFill>
                  <a:srgbClr val="5E76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=  </a:t>
            </a:r>
            <a:pPr algn="l" indent="0" marL="0">
              <a:lnSpc>
                <a:spcPct val="108000"/>
              </a:lnSpc>
              <a:buNone/>
            </a:pPr>
            <a:r>
              <a:rPr lang="en-US" sz="1550" b="1" dirty="0">
                <a:solidFill>
                  <a:srgbClr val="1194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3331</a:t>
            </a:r>
            <a:pPr algn="l" indent="0" marL="0">
              <a:lnSpc>
                <a:spcPct val="108000"/>
              </a:lnSpc>
              <a:buNone/>
            </a:pPr>
            <a:r>
              <a:rPr lang="en-US" sz="1550" dirty="0">
                <a:solidFill>
                  <a:srgbClr val="152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(đầu ra)  −  </a:t>
            </a:r>
            <a:pPr algn="l" indent="0" marL="0">
              <a:lnSpc>
                <a:spcPct val="108000"/>
              </a:lnSpc>
              <a:buNone/>
            </a:pPr>
            <a:r>
              <a:rPr lang="en-US" sz="1550" b="1" dirty="0">
                <a:solidFill>
                  <a:srgbClr val="1578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1331</a:t>
            </a:r>
            <a:pPr algn="l" indent="0" marL="0">
              <a:lnSpc>
                <a:spcPct val="108000"/>
              </a:lnSpc>
              <a:buNone/>
            </a:pPr>
            <a:r>
              <a:rPr lang="en-US" sz="1550" dirty="0">
                <a:solidFill>
                  <a:srgbClr val="152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(đầu vào)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7589520" y="3255264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Đây là gốc của chỉ tiêu thuế trong báo cáo.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548640" y="3950208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 cách quản kho — đổi cách ghi giá vốn: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548640" y="4334256"/>
            <a:ext cx="5440680" cy="1691640"/>
          </a:xfrm>
          <a:prstGeom prst="roundRect">
            <a:avLst>
              <a:gd name="adj" fmla="val 5405"/>
            </a:avLst>
          </a:prstGeom>
          <a:solidFill>
            <a:srgbClr val="EEF5F6"/>
          </a:solidFill>
          <a:ln/>
          <a:effectLst>
            <a:outerShdw sx="100000" sy="100000" kx="0" ky="0" algn="bl" rotWithShape="0" blurRad="114300" dist="38100" dir="5400000">
              <a:srgbClr val="0A2D39">
                <a:alpha val="16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841248" y="448056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78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Kê khai thường xuyên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841248" y="4846320"/>
            <a:ext cx="4892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 dõi kho </a:t>
            </a:r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578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liên tục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từng lần nhập/xuất.
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Dùng </a:t>
            </a:r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578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156, 632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ghi giá vốn ngay mỗi lần bán.
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E7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Phù hợp DN cần tồn kho realtime (đa số ERP).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199632" y="4334256"/>
            <a:ext cx="544068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0EAEC"/>
            </a:solidFill>
            <a:prstDash val="solid"/>
          </a:ln>
          <a:effectLst>
            <a:outerShdw sx="100000" sy="100000" kx="0" ky="0" algn="bl" rotWithShape="0" blurRad="114300" dist="38100" dir="5400000">
              <a:srgbClr val="0A2D39">
                <a:alpha val="16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6492240" y="448056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79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Kiểm kê định kỳ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6492240" y="4846320"/>
            <a:ext cx="4892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 </a:t>
            </a:r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C97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chốt cuối kỳ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bằng kiểm kê thực tế.
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Dùng </a:t>
            </a:r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C97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611 “Mua hàng”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gom mua trong kỳ.
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E7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Dashboard có tồn kho realtime → khả năng cao hệ thống dùng kê khai thường xuyên. Cần xác nhận DB.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7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cáo quản trị · Toàn tập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10424160" y="6455664"/>
            <a:ext cx="1216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19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13232" cy="713232"/>
          </a:xfrm>
          <a:prstGeom prst="ellipse">
            <a:avLst/>
          </a:prstGeom>
          <a:solidFill>
            <a:srgbClr val="C9791A"/>
          </a:solidFill>
          <a:ln/>
          <a:effectLst>
            <a:outerShdw sx="100000" sy="100000" kx="0" ky="0" algn="bl" rotWithShape="0" blurRad="88900" dist="25400" dir="5400000">
              <a:srgbClr val="0A2D39">
                <a:alpha val="18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3550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81328" y="420624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C97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6 · KHÓA SỔ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481328" y="676656"/>
            <a:ext cx="10149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52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Kết chuyển cuối kỳ — chốt lãi / lỗ qua 911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1554480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 loại 5, 6, 7, 8 là “tạm thời”</a:t>
            </a:r>
            <a:pPr indent="0" marL="0">
              <a:buNone/>
            </a:pPr>
            <a:r>
              <a:rPr lang="en-US" sz="140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cuối kỳ dồn hết về </a:t>
            </a:r>
            <a:pPr indent="0" marL="0">
              <a:buNone/>
            </a:pPr>
            <a:r>
              <a:rPr lang="en-US" sz="1400" b="1" dirty="0">
                <a:solidFill>
                  <a:srgbClr val="C97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911</a:t>
            </a:r>
            <a:pPr indent="0" marL="0">
              <a:buNone/>
            </a:pPr>
            <a:r>
              <a:rPr lang="en-US" sz="140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để tính lãi/lỗ, rồi về 0. Kết quả lãi/lỗ nằm ở </a:t>
            </a:r>
            <a:pPr indent="0" marL="0">
              <a:buNone/>
            </a:pPr>
            <a:r>
              <a:rPr lang="en-US" sz="1400" b="1" dirty="0">
                <a:solidFill>
                  <a:srgbClr val="119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421</a:t>
            </a:r>
            <a:pPr indent="0" marL="0">
              <a:buNone/>
            </a:pPr>
            <a:r>
              <a:rPr lang="en-US" sz="140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2084832"/>
            <a:ext cx="11091672" cy="603504"/>
          </a:xfrm>
          <a:prstGeom prst="roundRect">
            <a:avLst>
              <a:gd name="adj" fmla="val 15152"/>
            </a:avLst>
          </a:prstGeom>
          <a:solidFill>
            <a:srgbClr val="EEF5F6"/>
          </a:solidFill>
          <a:ln/>
        </p:spPr>
      </p:sp>
      <p:sp>
        <p:nvSpPr>
          <p:cNvPr id="8" name="Shape 5"/>
          <p:cNvSpPr/>
          <p:nvPr/>
        </p:nvSpPr>
        <p:spPr>
          <a:xfrm>
            <a:off x="768096" y="2176272"/>
            <a:ext cx="420624" cy="420624"/>
          </a:xfrm>
          <a:prstGeom prst="ellipse">
            <a:avLst/>
          </a:prstGeom>
          <a:solidFill>
            <a:srgbClr val="15788E"/>
          </a:solidFill>
          <a:ln/>
        </p:spPr>
      </p:sp>
      <p:sp>
        <p:nvSpPr>
          <p:cNvPr id="9" name="Text 6"/>
          <p:cNvSpPr/>
          <p:nvPr/>
        </p:nvSpPr>
        <p:spPr>
          <a:xfrm>
            <a:off x="768096" y="21762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371600" y="2084832"/>
            <a:ext cx="4160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Nếu có giảm trừ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623560" y="2084832"/>
            <a:ext cx="5897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5272E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Nợ 511 / Có 521</a:t>
            </a:r>
            <a:pPr algn="l" indent="0" marL="0">
              <a:lnSpc>
                <a:spcPct val="100000"/>
              </a:lnSpc>
              <a:buNone/>
            </a:pPr>
            <a:r>
              <a:rPr lang="en-US" sz="1150" i="1" dirty="0">
                <a:solidFill>
                  <a:srgbClr val="5E7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ra doanh thu thuần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48640" y="2798064"/>
            <a:ext cx="11091672" cy="603504"/>
          </a:xfrm>
          <a:prstGeom prst="roundRect">
            <a:avLst>
              <a:gd name="adj" fmla="val 15152"/>
            </a:avLst>
          </a:prstGeom>
          <a:solidFill>
            <a:srgbClr val="EEF5F6"/>
          </a:solidFill>
          <a:ln/>
        </p:spPr>
      </p:sp>
      <p:sp>
        <p:nvSpPr>
          <p:cNvPr id="13" name="Shape 10"/>
          <p:cNvSpPr/>
          <p:nvPr/>
        </p:nvSpPr>
        <p:spPr>
          <a:xfrm>
            <a:off x="768096" y="2889504"/>
            <a:ext cx="420624" cy="420624"/>
          </a:xfrm>
          <a:prstGeom prst="ellipse">
            <a:avLst/>
          </a:prstGeom>
          <a:solidFill>
            <a:srgbClr val="11947B"/>
          </a:solidFill>
          <a:ln/>
        </p:spPr>
      </p:sp>
      <p:sp>
        <p:nvSpPr>
          <p:cNvPr id="14" name="Text 11"/>
          <p:cNvSpPr/>
          <p:nvPr/>
        </p:nvSpPr>
        <p:spPr>
          <a:xfrm>
            <a:off x="768096" y="28895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371600" y="2798064"/>
            <a:ext cx="4160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chuyển DOANH THU &amp; THU NHẬP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5623560" y="2798064"/>
            <a:ext cx="5897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5272E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Nợ 511, 515, 711  /  Có 911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48640" y="3511296"/>
            <a:ext cx="11091672" cy="603504"/>
          </a:xfrm>
          <a:prstGeom prst="roundRect">
            <a:avLst>
              <a:gd name="adj" fmla="val 15152"/>
            </a:avLst>
          </a:prstGeom>
          <a:solidFill>
            <a:srgbClr val="EEF5F6"/>
          </a:solidFill>
          <a:ln/>
        </p:spPr>
      </p:sp>
      <p:sp>
        <p:nvSpPr>
          <p:cNvPr id="18" name="Shape 15"/>
          <p:cNvSpPr/>
          <p:nvPr/>
        </p:nvSpPr>
        <p:spPr>
          <a:xfrm>
            <a:off x="768096" y="3602736"/>
            <a:ext cx="420624" cy="420624"/>
          </a:xfrm>
          <a:prstGeom prst="ellipse">
            <a:avLst/>
          </a:prstGeom>
          <a:solidFill>
            <a:srgbClr val="C0473F"/>
          </a:solidFill>
          <a:ln/>
        </p:spPr>
      </p:sp>
      <p:sp>
        <p:nvSpPr>
          <p:cNvPr id="19" name="Text 16"/>
          <p:cNvSpPr/>
          <p:nvPr/>
        </p:nvSpPr>
        <p:spPr>
          <a:xfrm>
            <a:off x="768096" y="36027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1371600" y="3511296"/>
            <a:ext cx="4160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chuyển GIÁ VỐN &amp; CHI PHÍ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5623560" y="3511296"/>
            <a:ext cx="5897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5272E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Nợ 911  /  Có 632, 635, 641, 642, 811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548640" y="4224528"/>
            <a:ext cx="11091672" cy="603504"/>
          </a:xfrm>
          <a:prstGeom prst="roundRect">
            <a:avLst>
              <a:gd name="adj" fmla="val 15152"/>
            </a:avLst>
          </a:prstGeom>
          <a:solidFill>
            <a:srgbClr val="EEF5F6"/>
          </a:solidFill>
          <a:ln/>
        </p:spPr>
      </p:sp>
      <p:sp>
        <p:nvSpPr>
          <p:cNvPr id="23" name="Shape 20"/>
          <p:cNvSpPr/>
          <p:nvPr/>
        </p:nvSpPr>
        <p:spPr>
          <a:xfrm>
            <a:off x="768096" y="4315968"/>
            <a:ext cx="420624" cy="420624"/>
          </a:xfrm>
          <a:prstGeom prst="ellipse">
            <a:avLst/>
          </a:prstGeom>
          <a:solidFill>
            <a:srgbClr val="C0473F"/>
          </a:solidFill>
          <a:ln/>
        </p:spPr>
      </p:sp>
      <p:sp>
        <p:nvSpPr>
          <p:cNvPr id="24" name="Text 21"/>
          <p:cNvSpPr/>
          <p:nvPr/>
        </p:nvSpPr>
        <p:spPr>
          <a:xfrm>
            <a:off x="768096" y="4315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1371600" y="4224528"/>
            <a:ext cx="4160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chuyển CHI PHÍ THUẾ TNDN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5623560" y="4224528"/>
            <a:ext cx="5897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5272E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Nợ 911  /  Có 821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548640" y="4937760"/>
            <a:ext cx="11091672" cy="603504"/>
          </a:xfrm>
          <a:prstGeom prst="roundRect">
            <a:avLst>
              <a:gd name="adj" fmla="val 15152"/>
            </a:avLst>
          </a:prstGeom>
          <a:solidFill>
            <a:srgbClr val="EEF5F6"/>
          </a:solidFill>
          <a:ln/>
        </p:spPr>
      </p:sp>
      <p:sp>
        <p:nvSpPr>
          <p:cNvPr id="28" name="Shape 25"/>
          <p:cNvSpPr/>
          <p:nvPr/>
        </p:nvSpPr>
        <p:spPr>
          <a:xfrm>
            <a:off x="768096" y="5029200"/>
            <a:ext cx="420624" cy="420624"/>
          </a:xfrm>
          <a:prstGeom prst="ellipse">
            <a:avLst/>
          </a:prstGeom>
          <a:solidFill>
            <a:srgbClr val="C9791A"/>
          </a:solidFill>
          <a:ln/>
        </p:spPr>
      </p:sp>
      <p:sp>
        <p:nvSpPr>
          <p:cNvPr id="29" name="Text 26"/>
          <p:cNvSpPr/>
          <p:nvPr/>
        </p:nvSpPr>
        <p:spPr>
          <a:xfrm>
            <a:off x="768096" y="5029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1371600" y="4937760"/>
            <a:ext cx="4160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Xác định KẾT QUẢ</a:t>
            </a:r>
            <a:endParaRPr lang="en-US" sz="1250" dirty="0"/>
          </a:p>
        </p:txBody>
      </p:sp>
      <p:sp>
        <p:nvSpPr>
          <p:cNvPr id="31" name="Text 28"/>
          <p:cNvSpPr/>
          <p:nvPr/>
        </p:nvSpPr>
        <p:spPr>
          <a:xfrm>
            <a:off x="5623560" y="4937760"/>
            <a:ext cx="5897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5272E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911 dư Có → LÃI: Nợ 911 / Có 421   ·   911 dư Nợ → LỖ: Nợ 421 / Có 911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548640" y="5650992"/>
            <a:ext cx="11091672" cy="548640"/>
          </a:xfrm>
          <a:prstGeom prst="roundRect">
            <a:avLst>
              <a:gd name="adj" fmla="val 16667"/>
            </a:avLst>
          </a:prstGeom>
          <a:solidFill>
            <a:srgbClr val="0E3A4A"/>
          </a:solidFill>
          <a:ln/>
          <a:effectLst>
            <a:outerShdw sx="100000" sy="100000" kx="0" ky="0" algn="bl" rotWithShape="0" blurRad="114300" dist="38100" dir="5400000">
              <a:srgbClr val="0A2D39">
                <a:alpha val="16000"/>
              </a:srgbClr>
            </a:outerShdw>
          </a:effectLst>
        </p:spPr>
      </p:sp>
      <p:sp>
        <p:nvSpPr>
          <p:cNvPr id="33" name="Text 30"/>
          <p:cNvSpPr/>
          <p:nvPr/>
        </p:nvSpPr>
        <p:spPr>
          <a:xfrm>
            <a:off x="868680" y="565099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19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Trong phần mềm: </a:t>
            </a:r>
            <a:pPr algn="l" indent="0" marL="0">
              <a:buNone/>
            </a:pPr>
            <a:r>
              <a:rPr lang="en-US" sz="1250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ô “Tài khoản kết chuyển” là nơi cấu hình các cặp TK này để hệ thống tự sinh bút toán khi khóa sổ. </a:t>
            </a:r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Cần xác nhận: tự kết chuyển hay làm tay?</a:t>
            </a:r>
            <a:endParaRPr lang="en-US" sz="1250" dirty="0"/>
          </a:p>
        </p:txBody>
      </p:sp>
      <p:sp>
        <p:nvSpPr>
          <p:cNvPr id="34" name="Text 31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7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cáo quản trị · Toàn tập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10424160" y="6455664"/>
            <a:ext cx="1216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19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13232" cy="713232"/>
          </a:xfrm>
          <a:prstGeom prst="ellipse">
            <a:avLst/>
          </a:prstGeom>
          <a:solidFill>
            <a:srgbClr val="15788E"/>
          </a:solidFill>
          <a:ln/>
          <a:effectLst>
            <a:outerShdw sx="100000" sy="100000" kx="0" ky="0" algn="bl" rotWithShape="0" blurRad="88900" dist="25400" dir="5400000">
              <a:srgbClr val="0A2D39">
                <a:alpha val="18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3550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81328" y="420624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1578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7 · CẦU NỐI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481328" y="676656"/>
            <a:ext cx="10149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52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Tài khoản ngầm định — nối nghiệp vụ ↔ kế toán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572768"/>
            <a:ext cx="5120640" cy="4160520"/>
          </a:xfrm>
          <a:prstGeom prst="roundRect">
            <a:avLst>
              <a:gd name="adj" fmla="val 2198"/>
            </a:avLst>
          </a:prstGeom>
          <a:solidFill>
            <a:srgbClr val="EEF5F6"/>
          </a:solidFill>
          <a:ln/>
          <a:effectLst>
            <a:outerShdw sx="100000" sy="100000" kx="0" ky="0" algn="bl" rotWithShape="0" blurRad="114300" dist="38100" dir="5400000">
              <a:srgbClr val="0A2D39">
                <a:alpha val="16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41248" y="177393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1578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VẤN ĐỀ NÓ GIẢI QUYẾT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41248" y="2121408"/>
            <a:ext cx="4572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Nhân viên bán hàng không biết kế toán. 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Họ chỉ lập một </a:t>
            </a:r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1578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“Phiếu bán hàng”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chọn khách, chọn hàng, nhập số lượng / giá. Họ không thể và không nên phải gõ “Nợ 131, Có 511, Có 3331…”.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41248" y="3822192"/>
            <a:ext cx="4572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Tài khoản ngầm định = bảng ánh xạ cài sẵn.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Mỗi loại chứng từ đã gắn sẵn bộ tài khoản mặc định. Phiếu được lưu → hệ thống </a:t>
            </a:r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119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sinh bút toán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đúng các tài khoản đó.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870448" y="1572768"/>
            <a:ext cx="5769864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E0EAEC"/>
            </a:solidFill>
            <a:prstDash val="solid"/>
          </a:ln>
          <a:effectLst>
            <a:outerShdw sx="100000" sy="100000" kx="0" ky="0" algn="bl" rotWithShape="0" blurRad="114300" dist="38100" dir="5400000">
              <a:srgbClr val="0A2D39">
                <a:alpha val="16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163056" y="1792224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1578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ÁNH XẠ NGẦM ĐỊNH CHO “PHIẾU BÁN HÀNG”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163056" y="2249424"/>
            <a:ext cx="5184648" cy="530352"/>
          </a:xfrm>
          <a:prstGeom prst="roundRect">
            <a:avLst>
              <a:gd name="adj" fmla="val 17241"/>
            </a:avLst>
          </a:prstGeom>
          <a:solidFill>
            <a:srgbClr val="EEF5F6"/>
          </a:solidFill>
          <a:ln/>
        </p:spPr>
      </p:sp>
      <p:sp>
        <p:nvSpPr>
          <p:cNvPr id="13" name="Text 10"/>
          <p:cNvSpPr/>
          <p:nvPr/>
        </p:nvSpPr>
        <p:spPr>
          <a:xfrm>
            <a:off x="6345936" y="2249424"/>
            <a:ext cx="2697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nợ / tiền thu</a:t>
            </a:r>
            <a:endParaRPr lang="en-US" sz="125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2832" y="2423160"/>
            <a:ext cx="365760" cy="18288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9418320" y="2340864"/>
            <a:ext cx="868680" cy="347472"/>
          </a:xfrm>
          <a:prstGeom prst="roundRect">
            <a:avLst>
              <a:gd name="adj" fmla="val 13158"/>
            </a:avLst>
          </a:prstGeom>
          <a:solidFill>
            <a:srgbClr val="15788E"/>
          </a:solidFill>
          <a:ln/>
        </p:spPr>
      </p:sp>
      <p:sp>
        <p:nvSpPr>
          <p:cNvPr id="16" name="Text 12"/>
          <p:cNvSpPr/>
          <p:nvPr/>
        </p:nvSpPr>
        <p:spPr>
          <a:xfrm>
            <a:off x="9418320" y="2340864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131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10378440" y="2249424"/>
            <a:ext cx="960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900" i="1" dirty="0">
                <a:solidFill>
                  <a:srgbClr val="5E7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(111/112 nếu thu ngay)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6163056" y="2852928"/>
            <a:ext cx="5184648" cy="530352"/>
          </a:xfrm>
          <a:prstGeom prst="roundRect">
            <a:avLst>
              <a:gd name="adj" fmla="val 17241"/>
            </a:avLst>
          </a:prstGeom>
          <a:solidFill>
            <a:srgbClr val="EEF5F6"/>
          </a:solidFill>
          <a:ln/>
        </p:spPr>
      </p:sp>
      <p:sp>
        <p:nvSpPr>
          <p:cNvPr id="19" name="Text 15"/>
          <p:cNvSpPr/>
          <p:nvPr/>
        </p:nvSpPr>
        <p:spPr>
          <a:xfrm>
            <a:off x="6345936" y="2852928"/>
            <a:ext cx="2697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Doanh thu</a:t>
            </a:r>
            <a:endParaRPr lang="en-US" sz="125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2832" y="3026664"/>
            <a:ext cx="365760" cy="182880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9418320" y="2944368"/>
            <a:ext cx="868680" cy="347472"/>
          </a:xfrm>
          <a:prstGeom prst="roundRect">
            <a:avLst>
              <a:gd name="adj" fmla="val 13158"/>
            </a:avLst>
          </a:prstGeom>
          <a:solidFill>
            <a:srgbClr val="15788E"/>
          </a:solidFill>
          <a:ln/>
        </p:spPr>
      </p:sp>
      <p:sp>
        <p:nvSpPr>
          <p:cNvPr id="22" name="Text 17"/>
          <p:cNvSpPr/>
          <p:nvPr/>
        </p:nvSpPr>
        <p:spPr>
          <a:xfrm>
            <a:off x="9418320" y="2944368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511</a:t>
            </a:r>
            <a:endParaRPr lang="en-US" sz="1400" dirty="0"/>
          </a:p>
        </p:txBody>
      </p:sp>
      <p:sp>
        <p:nvSpPr>
          <p:cNvPr id="23" name="Shape 18"/>
          <p:cNvSpPr/>
          <p:nvPr/>
        </p:nvSpPr>
        <p:spPr>
          <a:xfrm>
            <a:off x="6163056" y="3456432"/>
            <a:ext cx="5184648" cy="530352"/>
          </a:xfrm>
          <a:prstGeom prst="roundRect">
            <a:avLst>
              <a:gd name="adj" fmla="val 17241"/>
            </a:avLst>
          </a:prstGeom>
          <a:solidFill>
            <a:srgbClr val="EEF5F6"/>
          </a:solidFill>
          <a:ln/>
        </p:spPr>
      </p:sp>
      <p:sp>
        <p:nvSpPr>
          <p:cNvPr id="24" name="Text 19"/>
          <p:cNvSpPr/>
          <p:nvPr/>
        </p:nvSpPr>
        <p:spPr>
          <a:xfrm>
            <a:off x="6345936" y="3456432"/>
            <a:ext cx="2697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Thuế GTGT đầu ra</a:t>
            </a:r>
            <a:endParaRPr lang="en-US" sz="1250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42832" y="3630168"/>
            <a:ext cx="365760" cy="182880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9418320" y="3547872"/>
            <a:ext cx="868680" cy="347472"/>
          </a:xfrm>
          <a:prstGeom prst="roundRect">
            <a:avLst>
              <a:gd name="adj" fmla="val 13158"/>
            </a:avLst>
          </a:prstGeom>
          <a:solidFill>
            <a:srgbClr val="15788E"/>
          </a:solidFill>
          <a:ln/>
        </p:spPr>
      </p:sp>
      <p:sp>
        <p:nvSpPr>
          <p:cNvPr id="27" name="Text 21"/>
          <p:cNvSpPr/>
          <p:nvPr/>
        </p:nvSpPr>
        <p:spPr>
          <a:xfrm>
            <a:off x="9418320" y="3547872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3331</a:t>
            </a:r>
            <a:endParaRPr lang="en-US" sz="1400" dirty="0"/>
          </a:p>
        </p:txBody>
      </p:sp>
      <p:sp>
        <p:nvSpPr>
          <p:cNvPr id="28" name="Shape 22"/>
          <p:cNvSpPr/>
          <p:nvPr/>
        </p:nvSpPr>
        <p:spPr>
          <a:xfrm>
            <a:off x="6163056" y="4059936"/>
            <a:ext cx="5184648" cy="530352"/>
          </a:xfrm>
          <a:prstGeom prst="roundRect">
            <a:avLst>
              <a:gd name="adj" fmla="val 17241"/>
            </a:avLst>
          </a:prstGeom>
          <a:solidFill>
            <a:srgbClr val="EEF5F6"/>
          </a:solidFill>
          <a:ln/>
        </p:spPr>
      </p:sp>
      <p:sp>
        <p:nvSpPr>
          <p:cNvPr id="29" name="Text 23"/>
          <p:cNvSpPr/>
          <p:nvPr/>
        </p:nvSpPr>
        <p:spPr>
          <a:xfrm>
            <a:off x="6345936" y="4059936"/>
            <a:ext cx="2697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Giá vốn</a:t>
            </a:r>
            <a:endParaRPr lang="en-US" sz="1250" dirty="0"/>
          </a:p>
        </p:txBody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42832" y="4233672"/>
            <a:ext cx="365760" cy="182880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9418320" y="4151376"/>
            <a:ext cx="868680" cy="347472"/>
          </a:xfrm>
          <a:prstGeom prst="roundRect">
            <a:avLst>
              <a:gd name="adj" fmla="val 13158"/>
            </a:avLst>
          </a:prstGeom>
          <a:solidFill>
            <a:srgbClr val="15788E"/>
          </a:solidFill>
          <a:ln/>
        </p:spPr>
      </p:sp>
      <p:sp>
        <p:nvSpPr>
          <p:cNvPr id="32" name="Text 25"/>
          <p:cNvSpPr/>
          <p:nvPr/>
        </p:nvSpPr>
        <p:spPr>
          <a:xfrm>
            <a:off x="9418320" y="4151376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632</a:t>
            </a:r>
            <a:endParaRPr lang="en-US" sz="1400" dirty="0"/>
          </a:p>
        </p:txBody>
      </p:sp>
      <p:sp>
        <p:nvSpPr>
          <p:cNvPr id="33" name="Shape 26"/>
          <p:cNvSpPr/>
          <p:nvPr/>
        </p:nvSpPr>
        <p:spPr>
          <a:xfrm>
            <a:off x="6163056" y="4663440"/>
            <a:ext cx="5184648" cy="530352"/>
          </a:xfrm>
          <a:prstGeom prst="roundRect">
            <a:avLst>
              <a:gd name="adj" fmla="val 17241"/>
            </a:avLst>
          </a:prstGeom>
          <a:solidFill>
            <a:srgbClr val="EEF5F6"/>
          </a:solidFill>
          <a:ln/>
        </p:spPr>
      </p:sp>
      <p:sp>
        <p:nvSpPr>
          <p:cNvPr id="34" name="Text 27"/>
          <p:cNvSpPr/>
          <p:nvPr/>
        </p:nvSpPr>
        <p:spPr>
          <a:xfrm>
            <a:off x="6345936" y="4663440"/>
            <a:ext cx="2697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 xuất</a:t>
            </a:r>
            <a:endParaRPr lang="en-US" sz="1250" dirty="0"/>
          </a:p>
        </p:txBody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42832" y="4837176"/>
            <a:ext cx="365760" cy="182880"/>
          </a:xfrm>
          <a:prstGeom prst="rect">
            <a:avLst/>
          </a:prstGeom>
        </p:spPr>
      </p:pic>
      <p:sp>
        <p:nvSpPr>
          <p:cNvPr id="36" name="Shape 28"/>
          <p:cNvSpPr/>
          <p:nvPr/>
        </p:nvSpPr>
        <p:spPr>
          <a:xfrm>
            <a:off x="9418320" y="4754880"/>
            <a:ext cx="868680" cy="347472"/>
          </a:xfrm>
          <a:prstGeom prst="roundRect">
            <a:avLst>
              <a:gd name="adj" fmla="val 13158"/>
            </a:avLst>
          </a:prstGeom>
          <a:solidFill>
            <a:srgbClr val="15788E"/>
          </a:solidFill>
          <a:ln/>
        </p:spPr>
      </p:sp>
      <p:sp>
        <p:nvSpPr>
          <p:cNvPr id="37" name="Text 29"/>
          <p:cNvSpPr/>
          <p:nvPr/>
        </p:nvSpPr>
        <p:spPr>
          <a:xfrm>
            <a:off x="9418320" y="4754880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156</a:t>
            </a:r>
            <a:endParaRPr lang="en-US" sz="1400" dirty="0"/>
          </a:p>
        </p:txBody>
      </p:sp>
      <p:sp>
        <p:nvSpPr>
          <p:cNvPr id="38" name="Shape 30"/>
          <p:cNvSpPr/>
          <p:nvPr/>
        </p:nvSpPr>
        <p:spPr>
          <a:xfrm>
            <a:off x="6163056" y="5358384"/>
            <a:ext cx="5184648" cy="292608"/>
          </a:xfrm>
          <a:prstGeom prst="roundRect">
            <a:avLst>
              <a:gd name="adj" fmla="val 31250"/>
            </a:avLst>
          </a:prstGeom>
          <a:solidFill>
            <a:srgbClr val="FAF0DE"/>
          </a:solidFill>
          <a:ln/>
        </p:spPr>
      </p:sp>
      <p:sp>
        <p:nvSpPr>
          <p:cNvPr id="39" name="Text 31"/>
          <p:cNvSpPr/>
          <p:nvPr/>
        </p:nvSpPr>
        <p:spPr>
          <a:xfrm>
            <a:off x="6309360" y="5358384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7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Sai một dòng map ở đây = mọi giao dịch loại đó định khoản sai.</a:t>
            </a:r>
            <a:endParaRPr lang="en-US" sz="1050" dirty="0"/>
          </a:p>
        </p:txBody>
      </p:sp>
      <p:sp>
        <p:nvSpPr>
          <p:cNvPr id="40" name="Text 32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7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cáo quản trị · Toàn tập</a:t>
            </a:r>
            <a:endParaRPr lang="en-US" sz="900" dirty="0"/>
          </a:p>
        </p:txBody>
      </p:sp>
      <p:sp>
        <p:nvSpPr>
          <p:cNvPr id="41" name="Text 33"/>
          <p:cNvSpPr/>
          <p:nvPr/>
        </p:nvSpPr>
        <p:spPr>
          <a:xfrm>
            <a:off x="10424160" y="6455664"/>
            <a:ext cx="1216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19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13232" cy="713232"/>
          </a:xfrm>
          <a:prstGeom prst="ellipse">
            <a:avLst/>
          </a:prstGeom>
          <a:solidFill>
            <a:srgbClr val="15788E"/>
          </a:solidFill>
          <a:ln/>
          <a:effectLst>
            <a:outerShdw sx="100000" sy="100000" kx="0" ky="0" algn="bl" rotWithShape="0" blurRad="88900" dist="25400" dir="5400000">
              <a:srgbClr val="0A2D39">
                <a:alpha val="18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3550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81328" y="420624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1578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8 · LUỒNG END-TO-END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481328" y="676656"/>
            <a:ext cx="10149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52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Từ 1 giao dịch → 3 báo cáo (chuỗi 5 mắt xích)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737360"/>
            <a:ext cx="2075688" cy="3200400"/>
          </a:xfrm>
          <a:prstGeom prst="roundRect">
            <a:avLst>
              <a:gd name="adj" fmla="val 4405"/>
            </a:avLst>
          </a:prstGeom>
          <a:solidFill>
            <a:srgbClr val="EEF5F6"/>
          </a:solidFill>
          <a:ln/>
          <a:effectLst>
            <a:outerShdw sx="100000" sy="100000" kx="0" ky="0" algn="bl" rotWithShape="0" blurRad="114300" dist="38100" dir="5400000">
              <a:srgbClr val="0A2D39">
                <a:alpha val="16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257300" y="2011680"/>
            <a:ext cx="658368" cy="658368"/>
          </a:xfrm>
          <a:prstGeom prst="ellipse">
            <a:avLst/>
          </a:prstGeom>
          <a:solidFill>
            <a:srgbClr val="15788E"/>
          </a:solidFill>
          <a:ln/>
        </p:spPr>
      </p:sp>
      <p:sp>
        <p:nvSpPr>
          <p:cNvPr id="8" name="Text 5"/>
          <p:cNvSpPr/>
          <p:nvPr/>
        </p:nvSpPr>
        <p:spPr>
          <a:xfrm>
            <a:off x="1257300" y="199339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①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694944" y="2816352"/>
            <a:ext cx="1783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152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CHỨNG TỪ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31520" y="3438144"/>
            <a:ext cx="17099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Phiếu bán hàng cho khách A — 110tr</a:t>
            </a:r>
            <a:endParaRPr lang="en-US" sz="11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5758" y="2231136"/>
            <a:ext cx="201168" cy="20116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848356" y="1737360"/>
            <a:ext cx="2075688" cy="3200400"/>
          </a:xfrm>
          <a:prstGeom prst="roundRect">
            <a:avLst>
              <a:gd name="adj" fmla="val 4405"/>
            </a:avLst>
          </a:prstGeom>
          <a:solidFill>
            <a:srgbClr val="EEF5F6"/>
          </a:solidFill>
          <a:ln/>
          <a:effectLst>
            <a:outerShdw sx="100000" sy="100000" kx="0" ky="0" algn="bl" rotWithShape="0" blurRad="114300" dist="38100" dir="5400000">
              <a:srgbClr val="0A2D39">
                <a:alpha val="16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557016" y="2011680"/>
            <a:ext cx="658368" cy="658368"/>
          </a:xfrm>
          <a:prstGeom prst="ellipse">
            <a:avLst/>
          </a:prstGeom>
          <a:solidFill>
            <a:srgbClr val="15788E"/>
          </a:solidFill>
          <a:ln/>
        </p:spPr>
      </p:sp>
      <p:sp>
        <p:nvSpPr>
          <p:cNvPr id="14" name="Text 10"/>
          <p:cNvSpPr/>
          <p:nvPr/>
        </p:nvSpPr>
        <p:spPr>
          <a:xfrm>
            <a:off x="3557016" y="199339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②</a:t>
            </a:r>
            <a:endParaRPr lang="en-US" sz="2600" dirty="0"/>
          </a:p>
        </p:txBody>
      </p:sp>
      <p:sp>
        <p:nvSpPr>
          <p:cNvPr id="15" name="Text 11"/>
          <p:cNvSpPr/>
          <p:nvPr/>
        </p:nvSpPr>
        <p:spPr>
          <a:xfrm>
            <a:off x="2994660" y="2816352"/>
            <a:ext cx="1783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152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ĐỊNH KHOẢN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3031236" y="3438144"/>
            <a:ext cx="17099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 ngầm định tự sinh: Nợ 131 / Có 511 / Có 3331 — và — Nợ 632 / Có 156</a:t>
            </a:r>
            <a:endParaRPr lang="en-US" sz="11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5474" y="2231136"/>
            <a:ext cx="201168" cy="201168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5148072" y="1737360"/>
            <a:ext cx="2075688" cy="3200400"/>
          </a:xfrm>
          <a:prstGeom prst="roundRect">
            <a:avLst>
              <a:gd name="adj" fmla="val 4405"/>
            </a:avLst>
          </a:prstGeom>
          <a:solidFill>
            <a:srgbClr val="EEF5F6"/>
          </a:solidFill>
          <a:ln/>
          <a:effectLst>
            <a:outerShdw sx="100000" sy="100000" kx="0" ky="0" algn="bl" rotWithShape="0" blurRad="114300" dist="38100" dir="5400000">
              <a:srgbClr val="0A2D39">
                <a:alpha val="16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5856732" y="2011680"/>
            <a:ext cx="658368" cy="658368"/>
          </a:xfrm>
          <a:prstGeom prst="ellipse">
            <a:avLst/>
          </a:prstGeom>
          <a:solidFill>
            <a:srgbClr val="15788E"/>
          </a:solidFill>
          <a:ln/>
        </p:spPr>
      </p:sp>
      <p:sp>
        <p:nvSpPr>
          <p:cNvPr id="20" name="Text 15"/>
          <p:cNvSpPr/>
          <p:nvPr/>
        </p:nvSpPr>
        <p:spPr>
          <a:xfrm>
            <a:off x="5856732" y="199339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③</a:t>
            </a:r>
            <a:endParaRPr lang="en-US" sz="2600" dirty="0"/>
          </a:p>
        </p:txBody>
      </p:sp>
      <p:sp>
        <p:nvSpPr>
          <p:cNvPr id="21" name="Text 16"/>
          <p:cNvSpPr/>
          <p:nvPr/>
        </p:nvSpPr>
        <p:spPr>
          <a:xfrm>
            <a:off x="5294376" y="2816352"/>
            <a:ext cx="1783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152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SỔ SÁCH</a:t>
            </a:r>
            <a:endParaRPr lang="en-US" sz="1450" dirty="0"/>
          </a:p>
        </p:txBody>
      </p:sp>
      <p:sp>
        <p:nvSpPr>
          <p:cNvPr id="22" name="Text 17"/>
          <p:cNvSpPr/>
          <p:nvPr/>
        </p:nvSpPr>
        <p:spPr>
          <a:xfrm>
            <a:off x="5330952" y="3438144"/>
            <a:ext cx="17099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Nhật ký chung → Sổ cái: 511 +100tr, 632 +70tr, 131 +110tr…</a:t>
            </a:r>
            <a:endParaRPr lang="en-US" sz="1100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5190" y="2231136"/>
            <a:ext cx="201168" cy="201168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7447788" y="1737360"/>
            <a:ext cx="2075688" cy="3200400"/>
          </a:xfrm>
          <a:prstGeom prst="roundRect">
            <a:avLst>
              <a:gd name="adj" fmla="val 4405"/>
            </a:avLst>
          </a:prstGeom>
          <a:solidFill>
            <a:srgbClr val="EEF5F6"/>
          </a:solidFill>
          <a:ln/>
          <a:effectLst>
            <a:outerShdw sx="100000" sy="100000" kx="0" ky="0" algn="bl" rotWithShape="0" blurRad="114300" dist="38100" dir="5400000">
              <a:srgbClr val="0A2D39">
                <a:alpha val="16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8156448" y="2011680"/>
            <a:ext cx="658368" cy="658368"/>
          </a:xfrm>
          <a:prstGeom prst="ellipse">
            <a:avLst/>
          </a:prstGeom>
          <a:solidFill>
            <a:srgbClr val="15788E"/>
          </a:solidFill>
          <a:ln/>
        </p:spPr>
      </p:sp>
      <p:sp>
        <p:nvSpPr>
          <p:cNvPr id="26" name="Text 20"/>
          <p:cNvSpPr/>
          <p:nvPr/>
        </p:nvSpPr>
        <p:spPr>
          <a:xfrm>
            <a:off x="8156448" y="199339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④</a:t>
            </a:r>
            <a:endParaRPr lang="en-US" sz="2600" dirty="0"/>
          </a:p>
        </p:txBody>
      </p:sp>
      <p:sp>
        <p:nvSpPr>
          <p:cNvPr id="27" name="Text 21"/>
          <p:cNvSpPr/>
          <p:nvPr/>
        </p:nvSpPr>
        <p:spPr>
          <a:xfrm>
            <a:off x="7594092" y="2816352"/>
            <a:ext cx="1783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152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SỐ DƯ &amp; PHÁT SINH</a:t>
            </a:r>
            <a:endParaRPr lang="en-US" sz="1450" dirty="0"/>
          </a:p>
        </p:txBody>
      </p:sp>
      <p:sp>
        <p:nvSpPr>
          <p:cNvPr id="28" name="Text 22"/>
          <p:cNvSpPr/>
          <p:nvPr/>
        </p:nvSpPr>
        <p:spPr>
          <a:xfrm>
            <a:off x="7630668" y="3438144"/>
            <a:ext cx="17099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Cuối kỳ tổng hợp số dư + phát sinh từng TK</a:t>
            </a:r>
            <a:endParaRPr lang="en-US" sz="1100" dirty="0"/>
          </a:p>
        </p:txBody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34906" y="2231136"/>
            <a:ext cx="201168" cy="201168"/>
          </a:xfrm>
          <a:prstGeom prst="rect">
            <a:avLst/>
          </a:prstGeom>
        </p:spPr>
      </p:pic>
      <p:sp>
        <p:nvSpPr>
          <p:cNvPr id="30" name="Shape 23"/>
          <p:cNvSpPr/>
          <p:nvPr/>
        </p:nvSpPr>
        <p:spPr>
          <a:xfrm>
            <a:off x="9747504" y="1737360"/>
            <a:ext cx="2075688" cy="3200400"/>
          </a:xfrm>
          <a:prstGeom prst="roundRect">
            <a:avLst>
              <a:gd name="adj" fmla="val 4405"/>
            </a:avLst>
          </a:prstGeom>
          <a:solidFill>
            <a:srgbClr val="E4F2EE"/>
          </a:solidFill>
          <a:ln/>
          <a:effectLst>
            <a:outerShdw sx="100000" sy="100000" kx="0" ky="0" algn="bl" rotWithShape="0" blurRad="114300" dist="38100" dir="5400000">
              <a:srgbClr val="0A2D39">
                <a:alpha val="16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10456164" y="2011680"/>
            <a:ext cx="658368" cy="658368"/>
          </a:xfrm>
          <a:prstGeom prst="ellipse">
            <a:avLst/>
          </a:prstGeom>
          <a:solidFill>
            <a:srgbClr val="11947B"/>
          </a:solidFill>
          <a:ln/>
        </p:spPr>
      </p:sp>
      <p:sp>
        <p:nvSpPr>
          <p:cNvPr id="32" name="Text 25"/>
          <p:cNvSpPr/>
          <p:nvPr/>
        </p:nvSpPr>
        <p:spPr>
          <a:xfrm>
            <a:off x="10456164" y="199339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⑤</a:t>
            </a:r>
            <a:endParaRPr lang="en-US" sz="2600" dirty="0"/>
          </a:p>
        </p:txBody>
      </p:sp>
      <p:sp>
        <p:nvSpPr>
          <p:cNvPr id="33" name="Text 26"/>
          <p:cNvSpPr/>
          <p:nvPr/>
        </p:nvSpPr>
        <p:spPr>
          <a:xfrm>
            <a:off x="9893808" y="2816352"/>
            <a:ext cx="1783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1194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BÁO CÁO</a:t>
            </a:r>
            <a:endParaRPr lang="en-US" sz="1450" dirty="0"/>
          </a:p>
        </p:txBody>
      </p:sp>
      <p:sp>
        <p:nvSpPr>
          <p:cNvPr id="34" name="Text 27"/>
          <p:cNvSpPr/>
          <p:nvPr/>
        </p:nvSpPr>
        <p:spPr>
          <a:xfrm>
            <a:off x="9930384" y="3438144"/>
            <a:ext cx="17099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hợp · Kinh doanh · Dashboard · Bảng KPI</a:t>
            </a:r>
            <a:endParaRPr lang="en-US" sz="1100" dirty="0"/>
          </a:p>
        </p:txBody>
      </p:sp>
      <p:sp>
        <p:nvSpPr>
          <p:cNvPr id="35" name="Shape 28"/>
          <p:cNvSpPr/>
          <p:nvPr/>
        </p:nvSpPr>
        <p:spPr>
          <a:xfrm>
            <a:off x="548640" y="5138928"/>
            <a:ext cx="11091672" cy="960120"/>
          </a:xfrm>
          <a:prstGeom prst="roundRect">
            <a:avLst>
              <a:gd name="adj" fmla="val 9524"/>
            </a:avLst>
          </a:prstGeom>
          <a:solidFill>
            <a:srgbClr val="0E3A4A"/>
          </a:solidFill>
          <a:ln/>
          <a:effectLst>
            <a:outerShdw sx="100000" sy="100000" kx="0" ky="0" algn="bl" rotWithShape="0" blurRad="114300" dist="38100" dir="5400000">
              <a:srgbClr val="0A2D39">
                <a:alpha val="16000"/>
              </a:srgbClr>
            </a:outerShdw>
          </a:effectLst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8229600" y="-8229600"/>
            <a:ext cx="9144" cy="9144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868680" y="5138928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119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Lợi nhuận cần thêm bước kết chuyển: </a:t>
            </a:r>
            <a:pPr algn="l"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5/6/7/8 → 911 → 421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  Một giao dịch bán không “đi thẳng” vào báo cáo — nó trở thành bút toán → ghi sổ cái → tổng hợp → báo cáo đọc lại.</a:t>
            </a:r>
            <a:endParaRPr lang="en-US" sz="1300" dirty="0"/>
          </a:p>
        </p:txBody>
      </p:sp>
      <p:sp>
        <p:nvSpPr>
          <p:cNvPr id="38" name="Text 30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7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cáo quản trị · Toàn tập</a:t>
            </a:r>
            <a:endParaRPr lang="en-US" sz="900" dirty="0"/>
          </a:p>
        </p:txBody>
      </p:sp>
      <p:sp>
        <p:nvSpPr>
          <p:cNvPr id="39" name="Text 31"/>
          <p:cNvSpPr/>
          <p:nvPr/>
        </p:nvSpPr>
        <p:spPr>
          <a:xfrm>
            <a:off x="10424160" y="6455664"/>
            <a:ext cx="1216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19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13232" cy="713232"/>
          </a:xfrm>
          <a:prstGeom prst="ellipse">
            <a:avLst/>
          </a:prstGeom>
          <a:solidFill>
            <a:srgbClr val="15788E"/>
          </a:solidFill>
          <a:ln/>
          <a:effectLst>
            <a:outerShdw sx="100000" sy="100000" kx="0" ky="0" algn="bl" rotWithShape="0" blurRad="88900" dist="25400" dir="5400000">
              <a:srgbClr val="0A2D39">
                <a:alpha val="18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3550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81328" y="420624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1578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8.2 · BA MÀN BÁO CÁO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481328" y="676656"/>
            <a:ext cx="10149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52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Một giao dịch, ba độ phóng đại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27632"/>
            <a:ext cx="3511296" cy="2788920"/>
          </a:xfrm>
          <a:prstGeom prst="roundRect">
            <a:avLst>
              <a:gd name="adj" fmla="val 3279"/>
            </a:avLst>
          </a:prstGeom>
          <a:solidFill>
            <a:srgbClr val="EEF5F6"/>
          </a:solidFill>
          <a:ln/>
          <a:effectLst>
            <a:outerShdw sx="100000" sy="100000" kx="0" ky="0" algn="bl" rotWithShape="0" blurRad="114300" dist="38100" dir="5400000">
              <a:srgbClr val="0A2D39">
                <a:alpha val="16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77824" y="1938528"/>
            <a:ext cx="676656" cy="676656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A2D39">
                <a:alpha val="14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" y="2121408"/>
            <a:ext cx="310896" cy="3108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700784" y="1993392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1578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 1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1700784" y="2212848"/>
            <a:ext cx="21854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2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Báo cáo tổng hợp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877824" y="2816352"/>
            <a:ext cx="28529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Bảng theo tài khoản × tháng (cột Tài khoản ghim trái, vd 5111 ●).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877824" y="3694176"/>
            <a:ext cx="2852928" cy="585216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/>
        </p:spPr>
      </p:sp>
      <p:sp>
        <p:nvSpPr>
          <p:cNvPr id="13" name="Text 9"/>
          <p:cNvSpPr/>
          <p:nvPr/>
        </p:nvSpPr>
        <p:spPr>
          <a:xfrm>
            <a:off x="1005840" y="3694176"/>
            <a:ext cx="25968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i="1" dirty="0">
                <a:solidFill>
                  <a:srgbClr val="1578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 511 T6 +100tr · 632 +70tr · 131 +110tr</a:t>
            </a:r>
            <a:endParaRPr lang="en-US" sz="1080" dirty="0"/>
          </a:p>
        </p:txBody>
      </p:sp>
      <p:sp>
        <p:nvSpPr>
          <p:cNvPr id="14" name="Shape 10"/>
          <p:cNvSpPr/>
          <p:nvPr/>
        </p:nvSpPr>
        <p:spPr>
          <a:xfrm>
            <a:off x="4343400" y="1627632"/>
            <a:ext cx="3511296" cy="2788920"/>
          </a:xfrm>
          <a:prstGeom prst="roundRect">
            <a:avLst>
              <a:gd name="adj" fmla="val 3279"/>
            </a:avLst>
          </a:prstGeom>
          <a:solidFill>
            <a:srgbClr val="EEF5F6"/>
          </a:solidFill>
          <a:ln/>
          <a:effectLst>
            <a:outerShdw sx="100000" sy="100000" kx="0" ky="0" algn="bl" rotWithShape="0" blurRad="114300" dist="38100" dir="5400000">
              <a:srgbClr val="0A2D39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672584" y="1938528"/>
            <a:ext cx="676656" cy="676656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A2D39">
                <a:alpha val="14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5464" y="2121408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495544" y="1993392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119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 2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5495544" y="2212848"/>
            <a:ext cx="21854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2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Báo cáo kinh doanh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4672584" y="2816352"/>
            <a:ext cx="28529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Góc nhìn kinh doanh: doanh thu, lợi nhuận, khách, sản phẩm.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4672584" y="3694176"/>
            <a:ext cx="2852928" cy="585216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/>
        </p:spPr>
      </p:sp>
      <p:sp>
        <p:nvSpPr>
          <p:cNvPr id="21" name="Text 16"/>
          <p:cNvSpPr/>
          <p:nvPr/>
        </p:nvSpPr>
        <p:spPr>
          <a:xfrm>
            <a:off x="4800600" y="3694176"/>
            <a:ext cx="25968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i="1" dirty="0">
                <a:solidFill>
                  <a:srgbClr val="119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Doanh thu T6 +100tr · LN gộp +30tr · khách A +1 đơn</a:t>
            </a:r>
            <a:endParaRPr lang="en-US" sz="1080" dirty="0"/>
          </a:p>
        </p:txBody>
      </p:sp>
      <p:sp>
        <p:nvSpPr>
          <p:cNvPr id="22" name="Shape 17"/>
          <p:cNvSpPr/>
          <p:nvPr/>
        </p:nvSpPr>
        <p:spPr>
          <a:xfrm>
            <a:off x="8138160" y="1627632"/>
            <a:ext cx="3511296" cy="2788920"/>
          </a:xfrm>
          <a:prstGeom prst="roundRect">
            <a:avLst>
              <a:gd name="adj" fmla="val 3279"/>
            </a:avLst>
          </a:prstGeom>
          <a:solidFill>
            <a:srgbClr val="EEF5F6"/>
          </a:solidFill>
          <a:ln/>
          <a:effectLst>
            <a:outerShdw sx="100000" sy="100000" kx="0" ky="0" algn="bl" rotWithShape="0" blurRad="114300" dist="38100" dir="5400000">
              <a:srgbClr val="0A2D39">
                <a:alpha val="16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8467344" y="1938528"/>
            <a:ext cx="676656" cy="676656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A2D39">
                <a:alpha val="14000"/>
              </a:srgbClr>
            </a:outerShdw>
          </a:effectLst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50224" y="2121408"/>
            <a:ext cx="310896" cy="31089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290304" y="1993392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C97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 3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9290304" y="2212848"/>
            <a:ext cx="21854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2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1800" dirty="0"/>
          </a:p>
        </p:txBody>
      </p:sp>
      <p:sp>
        <p:nvSpPr>
          <p:cNvPr id="27" name="Text 21"/>
          <p:cNvSpPr/>
          <p:nvPr/>
        </p:nvSpPr>
        <p:spPr>
          <a:xfrm>
            <a:off x="8467344" y="2816352"/>
            <a:ext cx="28529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quan cao nhất cho sếp: doanh thu, dòng tiền, tồn kho, công nợ.</a:t>
            </a:r>
            <a:endParaRPr lang="en-US" sz="1250" dirty="0"/>
          </a:p>
        </p:txBody>
      </p:sp>
      <p:sp>
        <p:nvSpPr>
          <p:cNvPr id="28" name="Shape 22"/>
          <p:cNvSpPr/>
          <p:nvPr/>
        </p:nvSpPr>
        <p:spPr>
          <a:xfrm>
            <a:off x="8467344" y="3694176"/>
            <a:ext cx="2852928" cy="585216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/>
        </p:spPr>
      </p:sp>
      <p:sp>
        <p:nvSpPr>
          <p:cNvPr id="29" name="Text 23"/>
          <p:cNvSpPr/>
          <p:nvPr/>
        </p:nvSpPr>
        <p:spPr>
          <a:xfrm>
            <a:off x="8595360" y="3694176"/>
            <a:ext cx="25968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i="1" dirty="0">
                <a:solidFill>
                  <a:srgbClr val="C97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Tồn kho −70tr · công nợ phải thu +110tr</a:t>
            </a:r>
            <a:endParaRPr lang="en-US" sz="1080" dirty="0"/>
          </a:p>
        </p:txBody>
      </p:sp>
      <p:sp>
        <p:nvSpPr>
          <p:cNvPr id="30" name="Shape 24"/>
          <p:cNvSpPr/>
          <p:nvPr/>
        </p:nvSpPr>
        <p:spPr>
          <a:xfrm>
            <a:off x="548640" y="4736592"/>
            <a:ext cx="11091672" cy="1417320"/>
          </a:xfrm>
          <a:prstGeom prst="roundRect">
            <a:avLst>
              <a:gd name="adj" fmla="val 6452"/>
            </a:avLst>
          </a:prstGeom>
          <a:solidFill>
            <a:srgbClr val="0E3A4A"/>
          </a:solidFill>
          <a:ln/>
          <a:effectLst>
            <a:outerShdw sx="100000" sy="100000" kx="0" ky="0" algn="bl" rotWithShape="0" blurRad="114300" dist="38100" dir="5400000">
              <a:srgbClr val="0A2D39">
                <a:alpha val="16000"/>
              </a:srgbClr>
            </a:outerShdw>
          </a:effectLst>
        </p:spPr>
      </p:sp>
      <p:sp>
        <p:nvSpPr>
          <p:cNvPr id="31" name="Text 25"/>
          <p:cNvSpPr/>
          <p:nvPr/>
        </p:nvSpPr>
        <p:spPr>
          <a:xfrm>
            <a:off x="868680" y="4882896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“Dấu chấm tình trạng nguồn” (● cạnh số tài khoản)</a:t>
            </a:r>
            <a:endParaRPr lang="en-US" sz="1500" dirty="0"/>
          </a:p>
        </p:txBody>
      </p:sp>
      <p:sp>
        <p:nvSpPr>
          <p:cNvPr id="32" name="Text 26"/>
          <p:cNvSpPr/>
          <p:nvPr/>
        </p:nvSpPr>
        <p:spPr>
          <a:xfrm>
            <a:off x="868680" y="5285232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19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2000" dirty="0"/>
          </a:p>
        </p:txBody>
      </p:sp>
      <p:sp>
        <p:nvSpPr>
          <p:cNvPr id="33" name="Text 27"/>
          <p:cNvSpPr/>
          <p:nvPr/>
        </p:nvSpPr>
        <p:spPr>
          <a:xfrm>
            <a:off x="1179576" y="5285232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xanh = đã nối nguồn thật, số tin được</a:t>
            </a:r>
            <a:endParaRPr lang="en-US" sz="1150" dirty="0"/>
          </a:p>
        </p:txBody>
      </p:sp>
      <p:sp>
        <p:nvSpPr>
          <p:cNvPr id="34" name="Text 28"/>
          <p:cNvSpPr/>
          <p:nvPr/>
        </p:nvSpPr>
        <p:spPr>
          <a:xfrm>
            <a:off x="4480560" y="5285232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E5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2000" dirty="0"/>
          </a:p>
        </p:txBody>
      </p:sp>
      <p:sp>
        <p:nvSpPr>
          <p:cNvPr id="35" name="Text 29"/>
          <p:cNvSpPr/>
          <p:nvPr/>
        </p:nvSpPr>
        <p:spPr>
          <a:xfrm>
            <a:off x="4791456" y="5285232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vàng = nguồn một phần / cần kiểm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8092440" y="5285232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8F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2000" dirty="0"/>
          </a:p>
        </p:txBody>
      </p:sp>
      <p:sp>
        <p:nvSpPr>
          <p:cNvPr id="37" name="Text 31"/>
          <p:cNvSpPr/>
          <p:nvPr/>
        </p:nvSpPr>
        <p:spPr>
          <a:xfrm>
            <a:off x="8403336" y="5285232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xám = chưa có nguồn (vẫn là demo/seed)</a:t>
            </a:r>
            <a:endParaRPr lang="en-US" sz="1150" dirty="0"/>
          </a:p>
        </p:txBody>
      </p:sp>
      <p:sp>
        <p:nvSpPr>
          <p:cNvPr id="38" name="Text 32"/>
          <p:cNvSpPr/>
          <p:nvPr/>
        </p:nvSpPr>
        <p:spPr>
          <a:xfrm>
            <a:off x="868680" y="5797296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Màn hình tự thú nhận số nào thật, số nào mẫu — rất hữu ích cho giai đoạn go-live.</a:t>
            </a:r>
            <a:endParaRPr lang="en-US" sz="1100" dirty="0"/>
          </a:p>
        </p:txBody>
      </p:sp>
      <p:sp>
        <p:nvSpPr>
          <p:cNvPr id="39" name="Text 33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7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cáo quản trị · Toàn tập</a:t>
            </a:r>
            <a:endParaRPr lang="en-US" sz="900" dirty="0"/>
          </a:p>
        </p:txBody>
      </p:sp>
      <p:sp>
        <p:nvSpPr>
          <p:cNvPr id="40" name="Text 34"/>
          <p:cNvSpPr/>
          <p:nvPr/>
        </p:nvSpPr>
        <p:spPr>
          <a:xfrm>
            <a:off x="10424160" y="6455664"/>
            <a:ext cx="1216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19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13232" cy="713232"/>
          </a:xfrm>
          <a:prstGeom prst="ellipse">
            <a:avLst/>
          </a:prstGeom>
          <a:solidFill>
            <a:srgbClr val="11947B"/>
          </a:solidFill>
          <a:ln/>
          <a:effectLst>
            <a:outerShdw sx="100000" sy="100000" kx="0" ky="0" algn="bl" rotWithShape="0" blurRad="88900" dist="25400" dir="5400000">
              <a:srgbClr val="0A2D39">
                <a:alpha val="18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3550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81328" y="420624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119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9 · BẢNG KPI THEO KỲ KẾ TOÁN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481328" y="676656"/>
            <a:ext cx="10149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52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 thực thể &amp; cái bẫy cột “Cả năm”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591056"/>
            <a:ext cx="3584448" cy="1874520"/>
          </a:xfrm>
          <a:prstGeom prst="roundRect">
            <a:avLst>
              <a:gd name="adj" fmla="val 4878"/>
            </a:avLst>
          </a:prstGeom>
          <a:solidFill>
            <a:srgbClr val="EEF5F6"/>
          </a:solidFill>
          <a:ln/>
          <a:effectLst>
            <a:outerShdw sx="100000" sy="100000" kx="0" ky="0" algn="bl" rotWithShape="0" blurRad="114300" dist="38100" dir="5400000">
              <a:srgbClr val="0A2D39">
                <a:alpha val="16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41248" y="1828800"/>
            <a:ext cx="2999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788E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KpiDefinition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41248" y="2194560"/>
            <a:ext cx="2999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E7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Định nghĩa chỉ tiêu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841248" y="2505456"/>
            <a:ext cx="2999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8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Tên, ĐVT, Trọng số, Phòng ban, ChiềuTốt, CáchTổngHợp. Nên thêm: CôngThứcTính, NguồnDữLiệu.</a:t>
            </a:r>
            <a:endParaRPr lang="en-US" sz="1180" dirty="0"/>
          </a:p>
        </p:txBody>
      </p:sp>
      <p:sp>
        <p:nvSpPr>
          <p:cNvPr id="10" name="Shape 7"/>
          <p:cNvSpPr/>
          <p:nvPr/>
        </p:nvSpPr>
        <p:spPr>
          <a:xfrm>
            <a:off x="4297680" y="1591056"/>
            <a:ext cx="3584448" cy="1874520"/>
          </a:xfrm>
          <a:prstGeom prst="roundRect">
            <a:avLst>
              <a:gd name="adj" fmla="val 4878"/>
            </a:avLst>
          </a:prstGeom>
          <a:solidFill>
            <a:srgbClr val="EEF5F6"/>
          </a:solidFill>
          <a:ln/>
          <a:effectLst>
            <a:outerShdw sx="100000" sy="100000" kx="0" ky="0" algn="bl" rotWithShape="0" blurRad="114300" dist="38100" dir="5400000">
              <a:srgbClr val="0A2D39">
                <a:alpha val="16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590288" y="1828800"/>
            <a:ext cx="2999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791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AccountingPeriod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590288" y="2194560"/>
            <a:ext cx="2999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E7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Định nghĩa kỳ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4590288" y="2505456"/>
            <a:ext cx="2999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8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Loại (Tháng/Quý/Năm), Năm, Số kỳ, Ngày BĐ–KT. → lý do bảng có T1–T12, gộp Quý, cột Cả năm.</a:t>
            </a:r>
            <a:endParaRPr lang="en-US" sz="1180" dirty="0"/>
          </a:p>
        </p:txBody>
      </p:sp>
      <p:sp>
        <p:nvSpPr>
          <p:cNvPr id="14" name="Shape 11"/>
          <p:cNvSpPr/>
          <p:nvPr/>
        </p:nvSpPr>
        <p:spPr>
          <a:xfrm>
            <a:off x="8046720" y="1591056"/>
            <a:ext cx="3584448" cy="1874520"/>
          </a:xfrm>
          <a:prstGeom prst="roundRect">
            <a:avLst>
              <a:gd name="adj" fmla="val 4878"/>
            </a:avLst>
          </a:prstGeom>
          <a:solidFill>
            <a:srgbClr val="EEF5F6"/>
          </a:solidFill>
          <a:ln/>
          <a:effectLst>
            <a:outerShdw sx="100000" sy="100000" kx="0" ky="0" algn="bl" rotWithShape="0" blurRad="114300" dist="38100" dir="5400000">
              <a:srgbClr val="0A2D39">
                <a:alpha val="16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8339328" y="1828800"/>
            <a:ext cx="2999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947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KpiPlan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339328" y="2194560"/>
            <a:ext cx="2999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E7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Bảng nối — chứa số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8339328" y="2505456"/>
            <a:ext cx="2999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8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KpiId, PeriodId, GiáTrịKếHoạch, GiáTrịThựcTế. Mỗi kỳ một dòng.</a:t>
            </a:r>
            <a:endParaRPr lang="en-US" sz="1180" dirty="0"/>
          </a:p>
        </p:txBody>
      </p:sp>
      <p:sp>
        <p:nvSpPr>
          <p:cNvPr id="18" name="Shape 15"/>
          <p:cNvSpPr/>
          <p:nvPr/>
        </p:nvSpPr>
        <p:spPr>
          <a:xfrm>
            <a:off x="548640" y="3630168"/>
            <a:ext cx="5486400" cy="2468880"/>
          </a:xfrm>
          <a:prstGeom prst="roundRect">
            <a:avLst>
              <a:gd name="adj" fmla="val 3704"/>
            </a:avLst>
          </a:prstGeom>
          <a:solidFill>
            <a:srgbClr val="0E3A4A"/>
          </a:solidFill>
          <a:ln/>
          <a:effectLst>
            <a:outerShdw sx="100000" sy="100000" kx="0" ky="0" algn="bl" rotWithShape="0" blurRad="114300" dist="38100" dir="5400000">
              <a:srgbClr val="0A2D39">
                <a:alpha val="16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841248" y="3803904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spc="50" kern="0" dirty="0">
                <a:solidFill>
                  <a:srgbClr val="8F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CỘT “CẢ NĂM” — VÌ SAO KPI % KHÔNG BẰNG TỔNG 12 THÁNG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841248" y="4370832"/>
            <a:ext cx="4892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19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số lượng / giá trị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(doanh thu, khách mới) → cộng dồn </a:t>
            </a:r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(Sum)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
</a:t>
            </a:r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E5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tỷ lệ / %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KHÔNG cộng (12 × 60% ≠ 720%!) → lấy </a:t>
            </a:r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trung bình (Avg)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841248" y="5541264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i="1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Quyết định bởi trường </a:t>
            </a:r>
            <a:pPr indent="0" marL="0">
              <a:lnSpc>
                <a:spcPct val="102000"/>
              </a:lnSpc>
              <a:buNone/>
            </a:pPr>
            <a:r>
              <a:rPr lang="en-US" sz="1150" b="1" i="1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CáchTổngHợp</a:t>
            </a:r>
            <a:pPr indent="0" marL="0">
              <a:lnSpc>
                <a:spcPct val="102000"/>
              </a:lnSpc>
              <a:buNone/>
            </a:pPr>
            <a:r>
              <a:rPr lang="en-US" sz="1150" i="1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(Sum / Avg / Last). Sai trường này → toàn bộ cột tổng sai.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6217920" y="3630168"/>
            <a:ext cx="5422392" cy="2468880"/>
          </a:xfrm>
          <a:prstGeom prst="roundRect">
            <a:avLst>
              <a:gd name="adj" fmla="val 3704"/>
            </a:avLst>
          </a:prstGeom>
          <a:solidFill>
            <a:srgbClr val="EEF5F6"/>
          </a:solidFill>
          <a:ln/>
          <a:effectLst>
            <a:outerShdw sx="100000" sy="100000" kx="0" ky="0" algn="bl" rotWithShape="0" blurRad="114300" dist="38100" dir="5400000">
              <a:srgbClr val="0A2D39">
                <a:alpha val="16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6510528" y="380390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19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“CHIỀU TỐT” &amp; TÔ MÀU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510528" y="4151376"/>
            <a:ext cx="4892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19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Cao là tốt</a:t>
            </a:r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(doanh thu): thực tế ≥ kế hoạch → xanh; thiếu nhiều → đỏ.
</a:t>
            </a:r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C0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Thấp là tốt</a:t>
            </a:r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(tỷ lệ lỗi, chi phí): logic màu đảo ngược.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6510528" y="5358384"/>
            <a:ext cx="5029200" cy="566928"/>
          </a:xfrm>
          <a:prstGeom prst="roundRect">
            <a:avLst>
              <a:gd name="adj" fmla="val 16129"/>
            </a:avLst>
          </a:prstGeom>
          <a:solidFill>
            <a:srgbClr val="FAF0DE"/>
          </a:solidFill>
          <a:ln/>
        </p:spPr>
      </p:sp>
      <p:sp>
        <p:nvSpPr>
          <p:cNvPr id="26" name="Text 23"/>
          <p:cNvSpPr/>
          <p:nvPr/>
        </p:nvSpPr>
        <p:spPr>
          <a:xfrm>
            <a:off x="6656832" y="5358384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C97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Cần chốt ngưỡng cụ thể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(vd ≥100% xanh · 80–99% vàng · &lt;80% đỏ) và phân quyền 3 vai: Nhập · Duyệt · Xem.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7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cáo quản trị · Toàn tập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0424160" y="6455664"/>
            <a:ext cx="1216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19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13232" cy="713232"/>
          </a:xfrm>
          <a:prstGeom prst="ellipse">
            <a:avLst/>
          </a:prstGeom>
          <a:solidFill>
            <a:srgbClr val="15788E"/>
          </a:solidFill>
          <a:ln/>
          <a:effectLst>
            <a:outerShdw sx="100000" sy="100000" kx="0" ky="0" algn="bl" rotWithShape="0" blurRad="88900" dist="25400" dir="5400000">
              <a:srgbClr val="0A2D39">
                <a:alpha val="18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3550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81328" y="420624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1578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10 · SO SÁNH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481328" y="676656"/>
            <a:ext cx="10149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52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Báo cáo quản trị vs Báo cáo tài chính</a:t>
            </a:r>
            <a:endParaRPr lang="en-US" sz="27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64208"/>
          <a:ext cx="1109167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4626864"/>
                <a:gridCol w="4636008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Báo cáo tài chính (BCTC)</a:t>
                      </a:r>
                      <a:endParaRPr lang="en-US" sz="15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76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Báo cáo quản trị (BCQT)</a:t>
                      </a:r>
                      <a:endParaRPr lang="en-US" sz="15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788E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E76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Phục vụ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5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Bên ngoài: thuế, ngân hàng, nhà đầu tư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5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Nội bộ: lãnh đạo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E76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Khuôn mẫu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5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Cứng — theo chuẩn mực / Thông tư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5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Linh hoạt — theo nhu cầu sếp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E76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Trả lời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5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“Đã xảy ra gì”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5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“Đã xảy ra gì + vì sao + nên làm gì tiếp”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E76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Nội dung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5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Chủ yếu tài chính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5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Tài chính + phi tài chính (KPI, nhân sự, ngân sách…)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577840"/>
            <a:ext cx="11091672" cy="566928"/>
          </a:xfrm>
          <a:prstGeom prst="roundRect">
            <a:avLst>
              <a:gd name="adj" fmla="val 16129"/>
            </a:avLst>
          </a:prstGeom>
          <a:solidFill>
            <a:srgbClr val="E4F2EE"/>
          </a:solidFill>
          <a:ln/>
          <a:effectLst>
            <a:outerShdw sx="100000" sy="100000" kx="0" ky="0" algn="bl" rotWithShape="0" blurRad="114300" dist="38100" dir="5400000">
              <a:srgbClr val="0A2D39">
                <a:alpha val="16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868680" y="5577840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94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Trong hệ của bạn: </a:t>
            </a:r>
            <a:pPr algn="l" indent="0" marL="0">
              <a:buNone/>
            </a:pPr>
            <a:r>
              <a:rPr lang="en-US" sz="130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 1 (Báo cáo tổng hợp) mang dáng dấp BCTC (theo tài khoản); </a:t>
            </a:r>
            <a:pPr algn="l" indent="0" marL="0">
              <a:buNone/>
            </a:pPr>
            <a:r>
              <a:rPr lang="en-US" sz="1300" b="1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 2, 3 và Bảng KPI là chất BCQT.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7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cáo quản trị · Toàn tập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0424160" y="6455664"/>
            <a:ext cx="1216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19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E3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011680"/>
            <a:ext cx="4937760" cy="4937760"/>
          </a:xfrm>
          <a:prstGeom prst="ellipse">
            <a:avLst/>
          </a:prstGeom>
          <a:solidFill>
            <a:srgbClr val="0F5C6E">
              <a:alpha val="3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" y="640080"/>
            <a:ext cx="841248" cy="841248"/>
          </a:xfrm>
          <a:prstGeom prst="ellipse">
            <a:avLst/>
          </a:prstGeom>
          <a:solidFill>
            <a:srgbClr val="11947B"/>
          </a:solidFill>
          <a:ln/>
          <a:effectLst>
            <a:outerShdw sx="100000" sy="100000" kx="0" ky="0" algn="bl" rotWithShape="0" blurRad="88900" dist="25400" dir="5400000">
              <a:srgbClr val="0A2D39">
                <a:alpha val="18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9140" y="841980"/>
            <a:ext cx="437449" cy="43744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0" y="640080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8F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— TRƯỚC KHI TRIỂN KHAI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1828800" y="950976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Việc cần mở code/DB để xác nhận — đừng đoán</a:t>
            </a:r>
            <a:endParaRPr lang="en-US" sz="2700" dirty="0"/>
          </a:p>
        </p:txBody>
      </p:sp>
      <p:sp>
        <p:nvSpPr>
          <p:cNvPr id="7" name="Shape 4"/>
          <p:cNvSpPr/>
          <p:nvPr/>
        </p:nvSpPr>
        <p:spPr>
          <a:xfrm>
            <a:off x="777240" y="1874520"/>
            <a:ext cx="5340096" cy="1298448"/>
          </a:xfrm>
          <a:prstGeom prst="roundRect">
            <a:avLst>
              <a:gd name="adj" fmla="val 7042"/>
            </a:avLst>
          </a:prstGeom>
          <a:solidFill>
            <a:srgbClr val="12414F"/>
          </a:solidFill>
          <a:ln w="12700">
            <a:solidFill>
              <a:srgbClr val="1C5A6B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2130552"/>
            <a:ext cx="310896" cy="3108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27048" y="2075688"/>
            <a:ext cx="4334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Mô hình “số thực tế” KPI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1527048" y="2459736"/>
            <a:ext cx="43342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80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Nhập tay hay tự động từ sổ cái (511 − 521)? — mục 8.4</a:t>
            </a:r>
            <a:endParaRPr lang="en-US" sz="1180" dirty="0"/>
          </a:p>
        </p:txBody>
      </p:sp>
      <p:sp>
        <p:nvSpPr>
          <p:cNvPr id="11" name="Shape 7"/>
          <p:cNvSpPr/>
          <p:nvPr/>
        </p:nvSpPr>
        <p:spPr>
          <a:xfrm>
            <a:off x="6501384" y="1874520"/>
            <a:ext cx="5340096" cy="1298448"/>
          </a:xfrm>
          <a:prstGeom prst="roundRect">
            <a:avLst>
              <a:gd name="adj" fmla="val 7042"/>
            </a:avLst>
          </a:prstGeom>
          <a:solidFill>
            <a:srgbClr val="12414F"/>
          </a:solidFill>
          <a:ln w="12700">
            <a:solidFill>
              <a:srgbClr val="1C5A6B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5704" y="2130552"/>
            <a:ext cx="310896" cy="31089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251192" y="2075688"/>
            <a:ext cx="4334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Bảng tài khoản ngầm định</a:t>
            </a:r>
            <a:endParaRPr lang="en-US" sz="1550" dirty="0"/>
          </a:p>
        </p:txBody>
      </p:sp>
      <p:sp>
        <p:nvSpPr>
          <p:cNvPr id="14" name="Text 9"/>
          <p:cNvSpPr/>
          <p:nvPr/>
        </p:nvSpPr>
        <p:spPr>
          <a:xfrm>
            <a:off x="7251192" y="2459736"/>
            <a:ext cx="43342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80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loại chứng từ map tới tài khoản nào? — mục 7</a:t>
            </a:r>
            <a:endParaRPr lang="en-US" sz="1180" dirty="0"/>
          </a:p>
        </p:txBody>
      </p:sp>
      <p:sp>
        <p:nvSpPr>
          <p:cNvPr id="15" name="Shape 10"/>
          <p:cNvSpPr/>
          <p:nvPr/>
        </p:nvSpPr>
        <p:spPr>
          <a:xfrm>
            <a:off x="777240" y="3447288"/>
            <a:ext cx="5340096" cy="1298448"/>
          </a:xfrm>
          <a:prstGeom prst="roundRect">
            <a:avLst>
              <a:gd name="adj" fmla="val 7042"/>
            </a:avLst>
          </a:prstGeom>
          <a:solidFill>
            <a:srgbClr val="12414F"/>
          </a:solidFill>
          <a:ln w="12700">
            <a:solidFill>
              <a:srgbClr val="1C5A6B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3703320"/>
            <a:ext cx="310896" cy="31089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527048" y="3648456"/>
            <a:ext cx="4334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Kết chuyển cuối kỳ</a:t>
            </a:r>
            <a:endParaRPr lang="en-US" sz="1550" dirty="0"/>
          </a:p>
        </p:txBody>
      </p:sp>
      <p:sp>
        <p:nvSpPr>
          <p:cNvPr id="18" name="Text 12"/>
          <p:cNvSpPr/>
          <p:nvPr/>
        </p:nvSpPr>
        <p:spPr>
          <a:xfrm>
            <a:off x="1527048" y="4032504"/>
            <a:ext cx="43342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80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động hay làm tay; cấu hình ở đâu? — mục 6.3</a:t>
            </a:r>
            <a:endParaRPr lang="en-US" sz="1180" dirty="0"/>
          </a:p>
        </p:txBody>
      </p:sp>
      <p:sp>
        <p:nvSpPr>
          <p:cNvPr id="19" name="Shape 13"/>
          <p:cNvSpPr/>
          <p:nvPr/>
        </p:nvSpPr>
        <p:spPr>
          <a:xfrm>
            <a:off x="6501384" y="3447288"/>
            <a:ext cx="5340096" cy="1298448"/>
          </a:xfrm>
          <a:prstGeom prst="roundRect">
            <a:avLst>
              <a:gd name="adj" fmla="val 7042"/>
            </a:avLst>
          </a:prstGeom>
          <a:solidFill>
            <a:srgbClr val="12414F"/>
          </a:solidFill>
          <a:ln w="12700">
            <a:solidFill>
              <a:srgbClr val="1C5A6B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5704" y="3703320"/>
            <a:ext cx="310896" cy="310896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251192" y="3648456"/>
            <a:ext cx="4334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Phương pháp kho</a:t>
            </a:r>
            <a:endParaRPr lang="en-US" sz="1550" dirty="0"/>
          </a:p>
        </p:txBody>
      </p:sp>
      <p:sp>
        <p:nvSpPr>
          <p:cNvPr id="22" name="Text 15"/>
          <p:cNvSpPr/>
          <p:nvPr/>
        </p:nvSpPr>
        <p:spPr>
          <a:xfrm>
            <a:off x="7251192" y="4032504"/>
            <a:ext cx="43342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80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Kê khai thường xuyên hay kiểm kê định kỳ? — mục 5.2</a:t>
            </a:r>
            <a:endParaRPr lang="en-US" sz="1180" dirty="0"/>
          </a:p>
        </p:txBody>
      </p:sp>
      <p:sp>
        <p:nvSpPr>
          <p:cNvPr id="23" name="Shape 16"/>
          <p:cNvSpPr/>
          <p:nvPr/>
        </p:nvSpPr>
        <p:spPr>
          <a:xfrm>
            <a:off x="777240" y="5020056"/>
            <a:ext cx="5340096" cy="1298448"/>
          </a:xfrm>
          <a:prstGeom prst="roundRect">
            <a:avLst>
              <a:gd name="adj" fmla="val 7042"/>
            </a:avLst>
          </a:prstGeom>
          <a:solidFill>
            <a:srgbClr val="12414F"/>
          </a:solidFill>
          <a:ln w="12700">
            <a:solidFill>
              <a:srgbClr val="1C5A6B"/>
            </a:solidFill>
            <a:prstDash val="solid"/>
          </a:ln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1560" y="5276088"/>
            <a:ext cx="310896" cy="310896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527048" y="5221224"/>
            <a:ext cx="4334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Ngưỡng tô màu KPI + phân quyền</a:t>
            </a:r>
            <a:endParaRPr lang="en-US" sz="1550" dirty="0"/>
          </a:p>
        </p:txBody>
      </p:sp>
      <p:sp>
        <p:nvSpPr>
          <p:cNvPr id="26" name="Text 18"/>
          <p:cNvSpPr/>
          <p:nvPr/>
        </p:nvSpPr>
        <p:spPr>
          <a:xfrm>
            <a:off x="1527048" y="5605272"/>
            <a:ext cx="43342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80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số cụ thể + 3 vai Nhập · Duyệt · Xem — mục 9.3–9.4</a:t>
            </a:r>
            <a:endParaRPr lang="en-US" sz="1180" dirty="0"/>
          </a:p>
        </p:txBody>
      </p:sp>
      <p:sp>
        <p:nvSpPr>
          <p:cNvPr id="27" name="Shape 19"/>
          <p:cNvSpPr/>
          <p:nvPr/>
        </p:nvSpPr>
        <p:spPr>
          <a:xfrm>
            <a:off x="6501384" y="5020056"/>
            <a:ext cx="5340096" cy="1298448"/>
          </a:xfrm>
          <a:prstGeom prst="roundRect">
            <a:avLst>
              <a:gd name="adj" fmla="val 7042"/>
            </a:avLst>
          </a:prstGeom>
          <a:solidFill>
            <a:srgbClr val="12414F"/>
          </a:solidFill>
          <a:ln w="12700">
            <a:solidFill>
              <a:srgbClr val="1C5A6B"/>
            </a:solidFill>
            <a:prstDash val="solid"/>
          </a:ln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75704" y="5276088"/>
            <a:ext cx="310896" cy="310896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7251192" y="5221224"/>
            <a:ext cx="4334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Mapping chỉ tiêu ↔ nguồn</a:t>
            </a:r>
            <a:endParaRPr lang="en-US" sz="1550" dirty="0"/>
          </a:p>
        </p:txBody>
      </p:sp>
      <p:sp>
        <p:nvSpPr>
          <p:cNvPr id="30" name="Text 21"/>
          <p:cNvSpPr/>
          <p:nvPr/>
        </p:nvSpPr>
        <p:spPr>
          <a:xfrm>
            <a:off x="7251192" y="5605272"/>
            <a:ext cx="43342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80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chỉ tiêu trên 3 sheet lấy từ TK/nghiệp vụ nào (để viết SQL thật)</a:t>
            </a:r>
            <a:endParaRPr lang="en-US" sz="1180" dirty="0"/>
          </a:p>
        </p:txBody>
      </p:sp>
      <p:sp>
        <p:nvSpPr>
          <p:cNvPr id="31" name="Text 22"/>
          <p:cNvSpPr/>
          <p:nvPr/>
        </p:nvSpPr>
        <p:spPr>
          <a:xfrm>
            <a:off x="777240" y="6327648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F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Số hiệu tài khoản &amp; trình tự kết chuyển theo TT 200/2014. Các mục ⚠ cần đối chiếu codebase / nghiệp vụ thật trước khi triển khai.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Báo cáo quản trị — Tài khoản &amp; luồng giao dịch</dc:title>
  <dc:subject>PptxGenJS Presentation</dc:subject>
  <dc:creator>BCQT</dc:creator>
  <cp:lastModifiedBy>BCQT</cp:lastModifiedBy>
  <cp:revision>1</cp:revision>
  <dcterms:created xsi:type="dcterms:W3CDTF">2026-06-18T01:54:12Z</dcterms:created>
  <dcterms:modified xsi:type="dcterms:W3CDTF">2026-06-18T01:54:12Z</dcterms:modified>
</cp:coreProperties>
</file>